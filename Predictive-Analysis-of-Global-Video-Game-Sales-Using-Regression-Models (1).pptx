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4630400" cy="8229600"/>
  <p:notesSz cx="8229600" cy="14630400"/>
  <p:embeddedFontLst>
    <p:embeddedFont>
      <p:font typeface="Alexandria Semi Bold" panose="020B0604020202020204" charset="-78"/>
      <p:regular r:id="rId15"/>
    </p:embeddedFont>
    <p:embeddedFont>
      <p:font typeface="Arial Black" panose="020B0A04020102020204" pitchFamily="34" charset="0"/>
      <p:bold r:id="rId16"/>
    </p:embeddedFont>
    <p:embeddedFont>
      <p:font typeface="Consolas" panose="020B0609020204030204" pitchFamily="49" charset="0"/>
      <p:regular r:id="rId17"/>
      <p:bold r:id="rId18"/>
      <p:italic r:id="rId19"/>
      <p:boldItalic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6" d="100"/>
          <a:sy n="76" d="100"/>
        </p:scale>
        <p:origin x="331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78513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sv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4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9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8527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8309" y="2709863"/>
            <a:ext cx="7627382" cy="2138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dirty="0">
                <a:solidFill>
                  <a:srgbClr val="1F1E1E"/>
                </a:solidFill>
                <a:latin typeface="Arial Black" panose="020B0A04020102020204" pitchFamily="34" charset="0"/>
                <a:ea typeface="Alexandria Semi Bold" pitchFamily="34" charset="-122"/>
                <a:cs typeface="Alexandria Semi Bold" pitchFamily="34" charset="-120"/>
              </a:rPr>
              <a:t>Predictive Analysis of Global Video Game Sales Using Regression Models</a:t>
            </a:r>
            <a:endParaRPr lang="en-US" sz="4450" dirty="0">
              <a:latin typeface="Arial Black" panose="020B0A04020102020204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758309" y="5519618"/>
            <a:ext cx="76273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Machine Learning Regression Project | January 2026</a:t>
            </a:r>
          </a:p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Presented By: Group 5</a:t>
            </a:r>
            <a:endParaRPr 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75899" y="668536"/>
            <a:ext cx="2088183" cy="329565"/>
          </a:xfrm>
          <a:prstGeom prst="roundRect">
            <a:avLst>
              <a:gd name="adj" fmla="val 17883"/>
            </a:avLst>
          </a:prstGeom>
          <a:solidFill>
            <a:srgbClr val="D5DCF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81031" y="763191"/>
            <a:ext cx="140256" cy="1402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91414" y="721043"/>
            <a:ext cx="1473279" cy="2245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PROJECT OVERVIEW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1475899" y="1068229"/>
            <a:ext cx="7645956" cy="576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3600" dirty="0">
                <a:solidFill>
                  <a:srgbClr val="1F1E1E"/>
                </a:solidFill>
                <a:latin typeface="Arial Black" panose="020B0A04020102020204" pitchFamily="34" charset="0"/>
                <a:ea typeface="Alexandria Semi Bold" pitchFamily="34" charset="-122"/>
                <a:cs typeface="Alexandria Semi Bold" pitchFamily="34" charset="-120"/>
              </a:rPr>
              <a:t>Problem Statement &amp; Objectives</a:t>
            </a:r>
            <a:endParaRPr lang="en-US" sz="3600" dirty="0">
              <a:latin typeface="Arial Black" panose="020B0A040201020202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1475899" y="2083594"/>
            <a:ext cx="2769513" cy="346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latin typeface="Arial Black" panose="020B0A04020102020204" pitchFamily="34" charset="0"/>
              </a:rPr>
              <a:t>Problem Statement</a:t>
            </a:r>
          </a:p>
        </p:txBody>
      </p:sp>
      <p:sp>
        <p:nvSpPr>
          <p:cNvPr id="7" name="Text 4"/>
          <p:cNvSpPr/>
          <p:nvPr/>
        </p:nvSpPr>
        <p:spPr>
          <a:xfrm>
            <a:off x="1475899" y="2605088"/>
            <a:ext cx="5625227" cy="1683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The global video game industry generates billions annually, yet predicting commercial success remains uncertain. Developers and publishers often rely on intuition rather than data-driven insights, leading to financial risks and inefficient strategies. This project analyzes historical sales data to build regression models that enable informed decision-making.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7536656" y="2083594"/>
            <a:ext cx="2769513" cy="346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1F1E1E"/>
                </a:solidFill>
                <a:latin typeface="Arial Black" panose="020B0A04020102020204" pitchFamily="34" charset="0"/>
                <a:ea typeface="Alexandria Semi Bold" pitchFamily="34" charset="-122"/>
                <a:cs typeface="Alexandria Semi Bold" pitchFamily="34" charset="-120"/>
              </a:rPr>
              <a:t>Objectives</a:t>
            </a:r>
            <a:endParaRPr lang="en-US" sz="2150" dirty="0">
              <a:latin typeface="Arial Black" panose="020B0A04020102020204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7536656" y="2605088"/>
            <a:ext cx="5625227" cy="561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Analyze historical video game sales trends across platforms and regions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7536656" y="3227427"/>
            <a:ext cx="5625227" cy="28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Font typeface="+mj-lt"/>
              <a:buAutoNum type="arabicPeriod" startAt="2"/>
            </a:pPr>
            <a:r>
              <a:rPr lang="en-US" sz="13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Identify key factors affecting global game sales performance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7536656" y="3569256"/>
            <a:ext cx="5625227" cy="28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Font typeface="+mj-lt"/>
              <a:buAutoNum type="arabicPeriod" startAt="3"/>
            </a:pPr>
            <a:r>
              <a:rPr lang="en-US" sz="13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Build accurate regression models to predict sales values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7536656" y="3911084"/>
            <a:ext cx="5625227" cy="28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Font typeface="+mj-lt"/>
              <a:buAutoNum type="arabicPeriod" startAt="4"/>
            </a:pPr>
            <a:r>
              <a:rPr lang="en-US" sz="13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Visualize insights for strategic business understanding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1475899" y="4730867"/>
            <a:ext cx="11678483" cy="29528"/>
          </a:xfrm>
          <a:prstGeom prst="rect">
            <a:avLst/>
          </a:prstGeom>
          <a:solidFill>
            <a:srgbClr val="3B3535">
              <a:alpha val="50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75899" y="4979551"/>
            <a:ext cx="175379" cy="175379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1475899" y="5232797"/>
            <a:ext cx="5751552" cy="22860"/>
          </a:xfrm>
          <a:prstGeom prst="rect">
            <a:avLst/>
          </a:prstGeom>
          <a:solidFill>
            <a:srgbClr val="1A2D7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2"/>
          <p:cNvSpPr/>
          <p:nvPr/>
        </p:nvSpPr>
        <p:spPr>
          <a:xfrm>
            <a:off x="1475899" y="5366147"/>
            <a:ext cx="2307908" cy="288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3B3535"/>
                </a:solidFill>
                <a:latin typeface="Arial Black" panose="020B0A04020102020204" pitchFamily="34" charset="0"/>
                <a:ea typeface="Alexandria Semi Bold" pitchFamily="34" charset="-122"/>
                <a:cs typeface="Alexandria Semi Bold" pitchFamily="34" charset="-120"/>
              </a:rPr>
              <a:t>Sagar Datkhile</a:t>
            </a:r>
            <a:endParaRPr lang="en-US" sz="1800" dirty="0">
              <a:latin typeface="Arial Black" panose="020B0A04020102020204" pitchFamily="34" charset="0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1475899" y="5759648"/>
            <a:ext cx="5751552" cy="28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Data Preprocessing, Model Development, Presentation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02830" y="4979551"/>
            <a:ext cx="175379" cy="175379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7402830" y="5232797"/>
            <a:ext cx="5751552" cy="22860"/>
          </a:xfrm>
          <a:prstGeom prst="rect">
            <a:avLst/>
          </a:prstGeom>
          <a:solidFill>
            <a:srgbClr val="1A2D7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5"/>
          <p:cNvSpPr/>
          <p:nvPr/>
        </p:nvSpPr>
        <p:spPr>
          <a:xfrm>
            <a:off x="7402830" y="5366147"/>
            <a:ext cx="2307908" cy="288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3B3535"/>
                </a:solidFill>
                <a:latin typeface="Arial Black" panose="020B0A04020102020204" pitchFamily="34" charset="0"/>
                <a:ea typeface="Alexandria Semi Bold" pitchFamily="34" charset="-122"/>
                <a:cs typeface="Alexandria Semi Bold" pitchFamily="34" charset="-120"/>
              </a:rPr>
              <a:t>Ashutosh Kinage</a:t>
            </a:r>
            <a:endParaRPr lang="en-US" sz="1800" dirty="0">
              <a:latin typeface="Arial Black" panose="020B0A04020102020204" pitchFamily="34" charset="0"/>
            </a:endParaRPr>
          </a:p>
        </p:txBody>
      </p:sp>
      <p:sp>
        <p:nvSpPr>
          <p:cNvPr id="21" name="Text 16"/>
          <p:cNvSpPr/>
          <p:nvPr/>
        </p:nvSpPr>
        <p:spPr>
          <a:xfrm>
            <a:off x="7402830" y="5759648"/>
            <a:ext cx="5751552" cy="28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Data Collection &amp; Analysis, Presentation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475899" y="6368891"/>
            <a:ext cx="175379" cy="175379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1475899" y="6622137"/>
            <a:ext cx="5751552" cy="22860"/>
          </a:xfrm>
          <a:prstGeom prst="rect">
            <a:avLst/>
          </a:prstGeom>
          <a:solidFill>
            <a:srgbClr val="1A2D7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18"/>
          <p:cNvSpPr/>
          <p:nvPr/>
        </p:nvSpPr>
        <p:spPr>
          <a:xfrm>
            <a:off x="1475899" y="6755487"/>
            <a:ext cx="2428042" cy="288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3B3535"/>
                </a:solidFill>
                <a:latin typeface="Arial Black" panose="020B0A04020102020204" pitchFamily="34" charset="0"/>
                <a:ea typeface="Alexandria Semi Bold" pitchFamily="34" charset="-122"/>
                <a:cs typeface="Alexandria Semi Bold" pitchFamily="34" charset="-120"/>
              </a:rPr>
              <a:t>Harshwardhan Ahire</a:t>
            </a:r>
            <a:endParaRPr lang="en-US" sz="1800" dirty="0">
              <a:latin typeface="Arial Black" panose="020B0A04020102020204" pitchFamily="34" charset="0"/>
            </a:endParaRPr>
          </a:p>
        </p:txBody>
      </p:sp>
      <p:sp>
        <p:nvSpPr>
          <p:cNvPr id="25" name="Text 19"/>
          <p:cNvSpPr/>
          <p:nvPr/>
        </p:nvSpPr>
        <p:spPr>
          <a:xfrm>
            <a:off x="1475899" y="7148989"/>
            <a:ext cx="5751552" cy="28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Feature Engineering &amp; Model Optimization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402830" y="6368891"/>
            <a:ext cx="175379" cy="175379"/>
          </a:xfrm>
          <a:prstGeom prst="rect">
            <a:avLst/>
          </a:prstGeom>
        </p:spPr>
      </p:pic>
      <p:sp>
        <p:nvSpPr>
          <p:cNvPr id="27" name="Shape 20"/>
          <p:cNvSpPr/>
          <p:nvPr/>
        </p:nvSpPr>
        <p:spPr>
          <a:xfrm>
            <a:off x="7402830" y="6622137"/>
            <a:ext cx="5751552" cy="22860"/>
          </a:xfrm>
          <a:prstGeom prst="rect">
            <a:avLst/>
          </a:prstGeom>
          <a:solidFill>
            <a:srgbClr val="1A2D7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1"/>
          <p:cNvSpPr/>
          <p:nvPr/>
        </p:nvSpPr>
        <p:spPr>
          <a:xfrm>
            <a:off x="7402830" y="6755487"/>
            <a:ext cx="2307908" cy="288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3B3535"/>
                </a:solidFill>
                <a:latin typeface="Arial Black" panose="020B0A04020102020204" pitchFamily="34" charset="0"/>
                <a:ea typeface="Alexandria Semi Bold" pitchFamily="34" charset="-122"/>
                <a:cs typeface="Alexandria Semi Bold" pitchFamily="34" charset="-120"/>
              </a:rPr>
              <a:t>Aniket Mahajan</a:t>
            </a:r>
            <a:endParaRPr lang="en-US" sz="1800" dirty="0">
              <a:latin typeface="Arial Black" panose="020B0A04020102020204" pitchFamily="34" charset="0"/>
            </a:endParaRPr>
          </a:p>
        </p:txBody>
      </p:sp>
      <p:sp>
        <p:nvSpPr>
          <p:cNvPr id="29" name="Text 22"/>
          <p:cNvSpPr/>
          <p:nvPr/>
        </p:nvSpPr>
        <p:spPr>
          <a:xfrm>
            <a:off x="7402830" y="7148989"/>
            <a:ext cx="5751552" cy="28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Testing, Evaluation &amp; Visualization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CB3E3E3-5EAB-7C2B-4735-6B4816B8D7B3}"/>
              </a:ext>
            </a:extLst>
          </p:cNvPr>
          <p:cNvSpPr txBox="1"/>
          <p:nvPr/>
        </p:nvSpPr>
        <p:spPr>
          <a:xfrm>
            <a:off x="12697691" y="7606145"/>
            <a:ext cx="1859973" cy="56102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153483" y="428030"/>
            <a:ext cx="1150826" cy="368498"/>
          </a:xfrm>
          <a:prstGeom prst="roundRect">
            <a:avLst>
              <a:gd name="adj" fmla="val 16993"/>
            </a:avLst>
          </a:prstGeom>
          <a:noFill/>
          <a:ln w="7620">
            <a:solidFill>
              <a:srgbClr val="1A2D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54091" y="519351"/>
            <a:ext cx="123944" cy="1239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439948" y="482084"/>
            <a:ext cx="574477" cy="198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300" dirty="0">
                <a:solidFill>
                  <a:srgbClr val="1A2D7A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DATASET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2153483" y="796528"/>
            <a:ext cx="7692747" cy="509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00" dirty="0">
                <a:solidFill>
                  <a:srgbClr val="1F1E1E"/>
                </a:solidFill>
                <a:latin typeface="Arial Black" panose="020B0A04020102020204" pitchFamily="34" charset="0"/>
                <a:ea typeface="Alexandria Semi Bold" pitchFamily="34" charset="-122"/>
                <a:cs typeface="Alexandria Semi Bold" pitchFamily="34" charset="-120"/>
              </a:rPr>
              <a:t>Data Overview &amp; Dataset Information</a:t>
            </a:r>
            <a:endParaRPr lang="en-US" sz="3200" dirty="0">
              <a:latin typeface="Arial Black" panose="020B0A040201020202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2153483" y="1694021"/>
            <a:ext cx="2448163" cy="305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1F1E1E"/>
                </a:solidFill>
                <a:latin typeface="Arial Black" panose="020B0A04020102020204" pitchFamily="34" charset="0"/>
                <a:ea typeface="Alexandria Semi Bold" pitchFamily="34" charset="-122"/>
                <a:cs typeface="Alexandria Semi Bold" pitchFamily="34" charset="-120"/>
              </a:rPr>
              <a:t>Data Source</a:t>
            </a:r>
            <a:endParaRPr lang="en-US" sz="1900" dirty="0">
              <a:latin typeface="Arial Black" panose="020B0A0402010202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2153483" y="2155031"/>
            <a:ext cx="390239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300" b="1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Source:</a:t>
            </a:r>
            <a:r>
              <a:rPr lang="en-US" sz="13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 Kaggle Dataset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2153483" y="2457212"/>
            <a:ext cx="3902393" cy="3331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300" b="1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Dataset:</a:t>
            </a:r>
            <a:r>
              <a:rPr lang="en-US" sz="13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 Video Game Sales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2153483" y="2753559"/>
            <a:ext cx="390239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300" b="1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Format:</a:t>
            </a:r>
            <a:r>
              <a:rPr lang="en-US" sz="13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 CSV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2153483" y="3080504"/>
            <a:ext cx="390239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300" b="1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Total Records:</a:t>
            </a:r>
            <a:r>
              <a:rPr lang="en-US" sz="13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 16,598 games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2153483" y="3372029"/>
            <a:ext cx="390239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300" b="1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Time Period:</a:t>
            </a:r>
            <a:r>
              <a:rPr lang="en-US" sz="13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 1980-2020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2153483" y="4034195"/>
            <a:ext cx="3902393" cy="1154787"/>
          </a:xfrm>
          <a:prstGeom prst="roundRect">
            <a:avLst>
              <a:gd name="adj" fmla="val 5639"/>
            </a:avLst>
          </a:prstGeom>
          <a:solidFill>
            <a:srgbClr val="C0CAF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08503" y="4267438"/>
            <a:ext cx="193715" cy="155019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657237" y="4227909"/>
            <a:ext cx="3243620" cy="7440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Four decades of comprehensive gaming industry data across 31 platforms and 12 genres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6441638" y="1694021"/>
            <a:ext cx="3873460" cy="305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1F1E1E"/>
                </a:solidFill>
                <a:latin typeface="Arial Black" panose="020B0A04020102020204" pitchFamily="34" charset="0"/>
                <a:ea typeface="Alexandria Semi Bold" pitchFamily="34" charset="-122"/>
                <a:cs typeface="Alexandria Semi Bold" pitchFamily="34" charset="-120"/>
              </a:rPr>
              <a:t>Dataset Attributes (11 Columns)</a:t>
            </a:r>
            <a:endParaRPr lang="en-US" sz="1900" dirty="0">
              <a:latin typeface="Arial Black" panose="020B0A04020102020204" pitchFamily="34" charset="0"/>
            </a:endParaRPr>
          </a:p>
        </p:txBody>
      </p:sp>
      <p:sp>
        <p:nvSpPr>
          <p:cNvPr id="16" name="Shape 12"/>
          <p:cNvSpPr/>
          <p:nvPr/>
        </p:nvSpPr>
        <p:spPr>
          <a:xfrm>
            <a:off x="6441638" y="2174438"/>
            <a:ext cx="6042779" cy="5452705"/>
          </a:xfrm>
          <a:prstGeom prst="roundRect">
            <a:avLst>
              <a:gd name="adj" fmla="val 1194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3"/>
          <p:cNvSpPr/>
          <p:nvPr/>
        </p:nvSpPr>
        <p:spPr>
          <a:xfrm>
            <a:off x="6449258" y="2182058"/>
            <a:ext cx="6027539" cy="44922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4"/>
          <p:cNvSpPr/>
          <p:nvPr/>
        </p:nvSpPr>
        <p:spPr>
          <a:xfrm>
            <a:off x="6604397" y="2282666"/>
            <a:ext cx="14943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b="1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Rank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5"/>
          <p:cNvSpPr/>
          <p:nvPr/>
        </p:nvSpPr>
        <p:spPr>
          <a:xfrm>
            <a:off x="8416409" y="2282666"/>
            <a:ext cx="3905369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Game ranking by sales performance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Shape 16"/>
          <p:cNvSpPr/>
          <p:nvPr/>
        </p:nvSpPr>
        <p:spPr>
          <a:xfrm>
            <a:off x="6449258" y="2631281"/>
            <a:ext cx="6027539" cy="44922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7"/>
          <p:cNvSpPr/>
          <p:nvPr/>
        </p:nvSpPr>
        <p:spPr>
          <a:xfrm>
            <a:off x="6604397" y="2731889"/>
            <a:ext cx="14943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b="1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Name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 18"/>
          <p:cNvSpPr/>
          <p:nvPr/>
        </p:nvSpPr>
        <p:spPr>
          <a:xfrm>
            <a:off x="8416409" y="2731889"/>
            <a:ext cx="3905369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Official game title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Shape 19"/>
          <p:cNvSpPr/>
          <p:nvPr/>
        </p:nvSpPr>
        <p:spPr>
          <a:xfrm>
            <a:off x="6449258" y="3080504"/>
            <a:ext cx="6027539" cy="69723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0"/>
          <p:cNvSpPr/>
          <p:nvPr/>
        </p:nvSpPr>
        <p:spPr>
          <a:xfrm>
            <a:off x="6604397" y="3181112"/>
            <a:ext cx="14943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b="1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Platform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 21"/>
          <p:cNvSpPr/>
          <p:nvPr/>
        </p:nvSpPr>
        <p:spPr>
          <a:xfrm>
            <a:off x="8416409" y="3181112"/>
            <a:ext cx="3905369" cy="496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Gaming platform (31 unique: Wii, DS, PS3, Xbox, etc.)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Shape 22"/>
          <p:cNvSpPr/>
          <p:nvPr/>
        </p:nvSpPr>
        <p:spPr>
          <a:xfrm>
            <a:off x="6449258" y="3777734"/>
            <a:ext cx="6027539" cy="44922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3"/>
          <p:cNvSpPr/>
          <p:nvPr/>
        </p:nvSpPr>
        <p:spPr>
          <a:xfrm>
            <a:off x="6604397" y="3878342"/>
            <a:ext cx="14943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b="1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Year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 24"/>
          <p:cNvSpPr/>
          <p:nvPr/>
        </p:nvSpPr>
        <p:spPr>
          <a:xfrm>
            <a:off x="8416409" y="3878342"/>
            <a:ext cx="3905369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Release year (1980-2020)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Shape 25"/>
          <p:cNvSpPr/>
          <p:nvPr/>
        </p:nvSpPr>
        <p:spPr>
          <a:xfrm>
            <a:off x="6449258" y="4226957"/>
            <a:ext cx="6027539" cy="59662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6"/>
          <p:cNvSpPr/>
          <p:nvPr/>
        </p:nvSpPr>
        <p:spPr>
          <a:xfrm>
            <a:off x="6604397" y="4327565"/>
            <a:ext cx="14943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b="1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Genre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 27"/>
          <p:cNvSpPr/>
          <p:nvPr/>
        </p:nvSpPr>
        <p:spPr>
          <a:xfrm>
            <a:off x="8416409" y="4327565"/>
            <a:ext cx="3905369" cy="496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Game category (12 types: Sports, Racing, Shooter, etc.)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Shape 28"/>
          <p:cNvSpPr/>
          <p:nvPr/>
        </p:nvSpPr>
        <p:spPr>
          <a:xfrm>
            <a:off x="6449258" y="4924187"/>
            <a:ext cx="6027539" cy="44922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29"/>
          <p:cNvSpPr/>
          <p:nvPr/>
        </p:nvSpPr>
        <p:spPr>
          <a:xfrm>
            <a:off x="6604397" y="5024795"/>
            <a:ext cx="14943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b="1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Publisher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Text 30"/>
          <p:cNvSpPr/>
          <p:nvPr/>
        </p:nvSpPr>
        <p:spPr>
          <a:xfrm>
            <a:off x="8416409" y="5024795"/>
            <a:ext cx="3905369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Publishing company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Shape 31"/>
          <p:cNvSpPr/>
          <p:nvPr/>
        </p:nvSpPr>
        <p:spPr>
          <a:xfrm>
            <a:off x="6449258" y="5373410"/>
            <a:ext cx="6027539" cy="44922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2"/>
          <p:cNvSpPr/>
          <p:nvPr/>
        </p:nvSpPr>
        <p:spPr>
          <a:xfrm>
            <a:off x="6604397" y="5474018"/>
            <a:ext cx="14943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b="1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NA_Sales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Text 33"/>
          <p:cNvSpPr/>
          <p:nvPr/>
        </p:nvSpPr>
        <p:spPr>
          <a:xfrm>
            <a:off x="8416409" y="5474018"/>
            <a:ext cx="3905369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North American sales (millions of units)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Shape 34"/>
          <p:cNvSpPr/>
          <p:nvPr/>
        </p:nvSpPr>
        <p:spPr>
          <a:xfrm>
            <a:off x="6449258" y="5822633"/>
            <a:ext cx="6027539" cy="44922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Text 35"/>
          <p:cNvSpPr/>
          <p:nvPr/>
        </p:nvSpPr>
        <p:spPr>
          <a:xfrm>
            <a:off x="6604397" y="5923240"/>
            <a:ext cx="14943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b="1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EU_Sales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Text 36"/>
          <p:cNvSpPr/>
          <p:nvPr/>
        </p:nvSpPr>
        <p:spPr>
          <a:xfrm>
            <a:off x="8416409" y="5923240"/>
            <a:ext cx="3905369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European sales (millions of units)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Shape 37"/>
          <p:cNvSpPr/>
          <p:nvPr/>
        </p:nvSpPr>
        <p:spPr>
          <a:xfrm>
            <a:off x="6449258" y="6271855"/>
            <a:ext cx="6027539" cy="44922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Text 38"/>
          <p:cNvSpPr/>
          <p:nvPr/>
        </p:nvSpPr>
        <p:spPr>
          <a:xfrm>
            <a:off x="6604397" y="6372463"/>
            <a:ext cx="14943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b="1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JP_Sales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Text 39"/>
          <p:cNvSpPr/>
          <p:nvPr/>
        </p:nvSpPr>
        <p:spPr>
          <a:xfrm>
            <a:off x="8416409" y="6372463"/>
            <a:ext cx="3905369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Japanese sales (millions of units)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Shape 40"/>
          <p:cNvSpPr/>
          <p:nvPr/>
        </p:nvSpPr>
        <p:spPr>
          <a:xfrm>
            <a:off x="6449258" y="6721078"/>
            <a:ext cx="6027539" cy="44922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Text 41"/>
          <p:cNvSpPr/>
          <p:nvPr/>
        </p:nvSpPr>
        <p:spPr>
          <a:xfrm>
            <a:off x="6604397" y="6821686"/>
            <a:ext cx="14943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b="1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Other_Sales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Text 42"/>
          <p:cNvSpPr/>
          <p:nvPr/>
        </p:nvSpPr>
        <p:spPr>
          <a:xfrm>
            <a:off x="8416409" y="6821686"/>
            <a:ext cx="3905369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Other regions sales (millions of units)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Shape 43"/>
          <p:cNvSpPr/>
          <p:nvPr/>
        </p:nvSpPr>
        <p:spPr>
          <a:xfrm>
            <a:off x="6449258" y="7170301"/>
            <a:ext cx="6027539" cy="44922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8" name="Text 44"/>
          <p:cNvSpPr/>
          <p:nvPr/>
        </p:nvSpPr>
        <p:spPr>
          <a:xfrm>
            <a:off x="6604397" y="7270909"/>
            <a:ext cx="14943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b="1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Global_Sales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Text 45"/>
          <p:cNvSpPr/>
          <p:nvPr/>
        </p:nvSpPr>
        <p:spPr>
          <a:xfrm>
            <a:off x="8416409" y="7270909"/>
            <a:ext cx="3905369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Target variable: Total worldwide sales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49E3322-A99F-BAAC-F6D9-771A5363A187}"/>
              </a:ext>
            </a:extLst>
          </p:cNvPr>
          <p:cNvSpPr txBox="1"/>
          <p:nvPr/>
        </p:nvSpPr>
        <p:spPr>
          <a:xfrm>
            <a:off x="12697691" y="7606145"/>
            <a:ext cx="1859973" cy="56102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73379" y="890112"/>
            <a:ext cx="1166012" cy="254198"/>
          </a:xfrm>
          <a:prstGeom prst="roundRect">
            <a:avLst>
              <a:gd name="adj" fmla="val 17883"/>
            </a:avLst>
          </a:prstGeom>
          <a:solidFill>
            <a:srgbClr val="D5DC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364224" y="935474"/>
            <a:ext cx="711041" cy="1938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STATISTICS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2273379" y="1235154"/>
            <a:ext cx="8792170" cy="498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dirty="0">
                <a:solidFill>
                  <a:srgbClr val="1F1E1E"/>
                </a:solidFill>
                <a:latin typeface="Arial Black" panose="020B0A04020102020204" pitchFamily="34" charset="0"/>
                <a:ea typeface="Alexandria Semi Bold" pitchFamily="34" charset="-122"/>
                <a:cs typeface="Alexandria Semi Bold" pitchFamily="34" charset="-120"/>
              </a:rPr>
              <a:t>Descriptive Statistics &amp; Data Characteristics</a:t>
            </a:r>
            <a:endParaRPr lang="en-US" sz="3100" dirty="0">
              <a:latin typeface="Arial Black" panose="020B0A040201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2273379" y="2036088"/>
            <a:ext cx="2378869" cy="499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900"/>
              </a:lnSpc>
              <a:buNone/>
            </a:pPr>
            <a:r>
              <a:rPr lang="en-US" sz="3900" dirty="0">
                <a:solidFill>
                  <a:srgbClr val="3B3535"/>
                </a:solidFill>
                <a:latin typeface="Arial Black" panose="020B0A04020102020204" pitchFamily="34" charset="0"/>
                <a:ea typeface="Alexandria Semi Bold" pitchFamily="34" charset="-122"/>
                <a:cs typeface="Alexandria Semi Bold" pitchFamily="34" charset="-120"/>
              </a:rPr>
              <a:t>16,598</a:t>
            </a:r>
            <a:endParaRPr lang="en-US" sz="3900" dirty="0">
              <a:latin typeface="Arial Black" panose="020B0A040201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2466380" y="2725102"/>
            <a:ext cx="1992749" cy="249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Arial Black" panose="020B0A04020102020204" pitchFamily="34" charset="0"/>
                <a:ea typeface="Alexandria Semi Bold" pitchFamily="34" charset="-122"/>
                <a:cs typeface="Alexandria Semi Bold" pitchFamily="34" charset="-120"/>
              </a:rPr>
              <a:t>Total Games</a:t>
            </a:r>
            <a:endParaRPr lang="en-US" sz="1550" dirty="0">
              <a:latin typeface="Arial Black" panose="020B0A040201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2273379" y="3065026"/>
            <a:ext cx="2378869" cy="242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Complete dataset records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4841557" y="2036088"/>
            <a:ext cx="2378869" cy="499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900"/>
              </a:lnSpc>
              <a:buNone/>
            </a:pPr>
            <a:r>
              <a:rPr lang="en-US" sz="3900" dirty="0">
                <a:solidFill>
                  <a:srgbClr val="3B3535"/>
                </a:solidFill>
                <a:latin typeface="Arial Black" panose="020B0A04020102020204" pitchFamily="34" charset="0"/>
                <a:ea typeface="Alexandria Semi Bold" pitchFamily="34" charset="-122"/>
                <a:cs typeface="Alexandria Semi Bold" pitchFamily="34" charset="-120"/>
              </a:rPr>
              <a:t>40</a:t>
            </a:r>
            <a:endParaRPr lang="en-US" sz="3900" dirty="0">
              <a:latin typeface="Arial Black" panose="020B0A040201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5034558" y="2725102"/>
            <a:ext cx="1992749" cy="249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Arial Black" panose="020B0A04020102020204" pitchFamily="34" charset="0"/>
                <a:ea typeface="Alexandria Semi Bold" pitchFamily="34" charset="-122"/>
                <a:cs typeface="Alexandria Semi Bold" pitchFamily="34" charset="-120"/>
              </a:rPr>
              <a:t>Years Analyzed</a:t>
            </a:r>
            <a:endParaRPr lang="en-US" sz="1550" dirty="0">
              <a:latin typeface="Arial Black" panose="020B0A040201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841557" y="3065026"/>
            <a:ext cx="2378869" cy="242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1980-2020 gaming era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409736" y="2036088"/>
            <a:ext cx="2378869" cy="499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900"/>
              </a:lnSpc>
              <a:buNone/>
            </a:pPr>
            <a:r>
              <a:rPr lang="en-US" sz="3900" dirty="0">
                <a:solidFill>
                  <a:srgbClr val="3B3535"/>
                </a:solidFill>
                <a:latin typeface="Arial Black" panose="020B0A04020102020204" pitchFamily="34" charset="0"/>
                <a:ea typeface="Alexandria Semi Bold" pitchFamily="34" charset="-122"/>
                <a:cs typeface="Alexandria Semi Bold" pitchFamily="34" charset="-120"/>
              </a:rPr>
              <a:t>82.74M</a:t>
            </a:r>
            <a:endParaRPr lang="en-US" sz="3900" dirty="0">
              <a:latin typeface="Arial Black" panose="020B0A040201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602736" y="2725102"/>
            <a:ext cx="1992749" cy="249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Arial Black" panose="020B0A04020102020204" pitchFamily="34" charset="0"/>
                <a:ea typeface="Alexandria Semi Bold" pitchFamily="34" charset="-122"/>
                <a:cs typeface="Alexandria Semi Bold" pitchFamily="34" charset="-120"/>
              </a:rPr>
              <a:t>Highest Sales</a:t>
            </a:r>
            <a:endParaRPr lang="en-US" sz="1550" dirty="0">
              <a:latin typeface="Arial Black" panose="020B0A040201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409736" y="3065026"/>
            <a:ext cx="2378869" cy="242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Wii Sports (outlier)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9977914" y="2036088"/>
            <a:ext cx="2378988" cy="499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900"/>
              </a:lnSpc>
              <a:buNone/>
            </a:pPr>
            <a:r>
              <a:rPr lang="en-US" sz="3900" dirty="0">
                <a:solidFill>
                  <a:srgbClr val="3B3535"/>
                </a:solidFill>
                <a:latin typeface="Arial Black" panose="020B0A04020102020204" pitchFamily="34" charset="0"/>
                <a:ea typeface="Alexandria Semi Bold" pitchFamily="34" charset="-122"/>
                <a:cs typeface="Alexandria Semi Bold" pitchFamily="34" charset="-120"/>
              </a:rPr>
              <a:t>0.537M</a:t>
            </a:r>
            <a:endParaRPr lang="en-US" sz="3900" dirty="0">
              <a:latin typeface="Arial Black" panose="020B0A040201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0171033" y="2725102"/>
            <a:ext cx="1992749" cy="249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Arial Black" panose="020B0A04020102020204" pitchFamily="34" charset="0"/>
                <a:ea typeface="Alexandria Semi Bold" pitchFamily="34" charset="-122"/>
                <a:cs typeface="Alexandria Semi Bold" pitchFamily="34" charset="-120"/>
              </a:rPr>
              <a:t>Mean Sales</a:t>
            </a:r>
            <a:endParaRPr lang="en-US" sz="1550" dirty="0">
              <a:latin typeface="Arial Black" panose="020B0A040201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9977914" y="3065026"/>
            <a:ext cx="2378988" cy="242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Average global sales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2273379" y="3629144"/>
            <a:ext cx="3001685" cy="2988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1F1E1E"/>
                </a:solidFill>
                <a:latin typeface="Arial Black" panose="020B0A04020102020204" pitchFamily="34" charset="0"/>
                <a:ea typeface="Alexandria Semi Bold" pitchFamily="34" charset="-122"/>
                <a:cs typeface="Alexandria Semi Bold" pitchFamily="34" charset="-120"/>
              </a:rPr>
              <a:t>Global Sales Distribution</a:t>
            </a:r>
            <a:endParaRPr lang="en-US" sz="1850" dirty="0">
              <a:latin typeface="Arial Black" panose="020B0A040201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2273379" y="4079438"/>
            <a:ext cx="4857036" cy="242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300" b="1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Mean:</a:t>
            </a:r>
            <a:r>
              <a:rPr lang="en-US" sz="13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 0.537 million units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2273379" y="4374713"/>
            <a:ext cx="4857036" cy="242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300" b="1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Median:</a:t>
            </a:r>
            <a:r>
              <a:rPr lang="en-US" sz="13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 0.170 million units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2273379" y="4669988"/>
            <a:ext cx="4857036" cy="242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300" b="1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Standard Deviation:</a:t>
            </a:r>
            <a:r>
              <a:rPr lang="en-US" sz="13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 1.555 million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2273379" y="4965263"/>
            <a:ext cx="4857036" cy="242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300" b="1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Min:</a:t>
            </a:r>
            <a:r>
              <a:rPr lang="en-US" sz="13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 0.01M | </a:t>
            </a:r>
            <a:r>
              <a:rPr lang="en-US" sz="1300" b="1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Max:</a:t>
            </a:r>
            <a:r>
              <a:rPr lang="en-US" sz="13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 82.74M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2273379" y="5260538"/>
            <a:ext cx="4857036" cy="242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300" b="1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Distribution:</a:t>
            </a:r>
            <a:r>
              <a:rPr lang="en-US" sz="13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 Highly right-skewed with long tail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2273379" y="5639038"/>
            <a:ext cx="4857036" cy="484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Most games cluster in 0.01-1.0M range while few blockbusters exceed 10M sales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7507367" y="3629144"/>
            <a:ext cx="3220879" cy="2988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1F1E1E"/>
                </a:solidFill>
                <a:latin typeface="Arial Black" panose="020B0A04020102020204" pitchFamily="34" charset="0"/>
                <a:ea typeface="Alexandria Semi Bold" pitchFamily="34" charset="-122"/>
                <a:cs typeface="Alexandria Semi Bold" pitchFamily="34" charset="-120"/>
              </a:rPr>
              <a:t>Regional Sales Breakdown</a:t>
            </a:r>
            <a:endParaRPr lang="en-US" sz="1850" dirty="0">
              <a:latin typeface="Arial Black" panose="020B0A04020102020204" pitchFamily="34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7507367" y="4098369"/>
            <a:ext cx="4857036" cy="2014418"/>
          </a:xfrm>
          <a:prstGeom prst="roundRect">
            <a:avLst>
              <a:gd name="adj" fmla="val 3158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7514987" y="4105989"/>
            <a:ext cx="4841796" cy="43922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7666434" y="4204454"/>
            <a:ext cx="2114193" cy="242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North America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0091142" y="4204454"/>
            <a:ext cx="2114193" cy="242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Mean: 0.265M | Std: 0.817M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7514987" y="4545211"/>
            <a:ext cx="4841796" cy="43922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7666434" y="4643676"/>
            <a:ext cx="2114193" cy="242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Europe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10091142" y="4643676"/>
            <a:ext cx="2114193" cy="242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Mean: 0.147M | Std: 0.505M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7514987" y="4984432"/>
            <a:ext cx="4841796" cy="43922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7666434" y="5082897"/>
            <a:ext cx="2114193" cy="242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Japan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10091142" y="5082897"/>
            <a:ext cx="2114193" cy="484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Mean: 0.078M | Std: 0.309M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7514987" y="5665946"/>
            <a:ext cx="4841796" cy="43922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7666434" y="5764411"/>
            <a:ext cx="2114193" cy="242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Other Regions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10091142" y="5764411"/>
            <a:ext cx="2114193" cy="242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Mean: 0.048M | Std: 0.189M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7507367" y="6283166"/>
            <a:ext cx="4857036" cy="885825"/>
          </a:xfrm>
          <a:prstGeom prst="roundRect">
            <a:avLst>
              <a:gd name="adj" fmla="val 7181"/>
            </a:avLst>
          </a:prstGeom>
          <a:solidFill>
            <a:srgbClr val="C0CAF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8814" y="6507599"/>
            <a:ext cx="189309" cy="151448"/>
          </a:xfrm>
          <a:prstGeom prst="rect">
            <a:avLst/>
          </a:prstGeom>
        </p:spPr>
      </p:pic>
      <p:sp>
        <p:nvSpPr>
          <p:cNvPr id="40" name="Text 37"/>
          <p:cNvSpPr/>
          <p:nvPr/>
        </p:nvSpPr>
        <p:spPr>
          <a:xfrm>
            <a:off x="7999571" y="6472476"/>
            <a:ext cx="4213384" cy="484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Missing Values:</a:t>
            </a:r>
            <a:r>
              <a:rPr lang="en-US" sz="1300" dirty="0">
                <a:solidFill>
                  <a:srgbClr val="000000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 Year (271 records, 1.63%) | Publisher (58 records, 0.35%) | Total to remove: 329 rows (~2%)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05D360A-C6E8-F370-597E-3B30B4BBCBD8}"/>
              </a:ext>
            </a:extLst>
          </p:cNvPr>
          <p:cNvSpPr txBox="1"/>
          <p:nvPr/>
        </p:nvSpPr>
        <p:spPr>
          <a:xfrm>
            <a:off x="12697691" y="7606145"/>
            <a:ext cx="1859973" cy="56102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1264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5716" y="1284803"/>
            <a:ext cx="4936331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800" dirty="0">
                <a:solidFill>
                  <a:srgbClr val="1F1E1E"/>
                </a:solidFill>
                <a:latin typeface="Arial Black" panose="020B0A04020102020204" pitchFamily="34" charset="0"/>
                <a:ea typeface="Alexandria Semi Bold" pitchFamily="34" charset="-122"/>
                <a:cs typeface="Alexandria Semi Bold" pitchFamily="34" charset="-120"/>
              </a:rPr>
              <a:t>Model Selection: Why Regression?</a:t>
            </a:r>
            <a:endParaRPr lang="en-US" sz="2800" dirty="0">
              <a:latin typeface="Arial Black" panose="020B0A04020102020204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965716" y="1803440"/>
            <a:ext cx="5305187" cy="491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50"/>
              </a:lnSpc>
              <a:buNone/>
            </a:pPr>
            <a:r>
              <a:rPr lang="en-US" sz="3600" dirty="0">
                <a:solidFill>
                  <a:srgbClr val="84C1FA"/>
                </a:solidFill>
                <a:latin typeface="Arial Black" panose="020B0A04020102020204" pitchFamily="34" charset="0"/>
                <a:ea typeface="Alexandria Semi Bold" pitchFamily="34" charset="-122"/>
                <a:cs typeface="Alexandria Semi Bold" pitchFamily="34" charset="-120"/>
              </a:rPr>
              <a:t>Multiple Linear Regression</a:t>
            </a:r>
            <a:endParaRPr lang="en-US" sz="3600" dirty="0">
              <a:latin typeface="Arial Black" panose="020B0A04020102020204" pitchFamily="34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965716" y="2457569"/>
            <a:ext cx="7212568" cy="718423"/>
          </a:xfrm>
          <a:prstGeom prst="roundRect">
            <a:avLst>
              <a:gd name="adj" fmla="val 7021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1081564" y="2573417"/>
            <a:ext cx="1974532" cy="178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Arial Black" panose="020B0A04020102020204" pitchFamily="34" charset="0"/>
                <a:ea typeface="Alexandria Semi Bold" pitchFamily="34" charset="-122"/>
                <a:cs typeface="Alexandria Semi Bold" pitchFamily="34" charset="-120"/>
              </a:rPr>
              <a:t>Predicts Continuous Values</a:t>
            </a:r>
            <a:endParaRPr lang="en-US" sz="1400" dirty="0">
              <a:latin typeface="Arial Black" panose="020B0A0402010202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1081564" y="2816423"/>
            <a:ext cx="6980873" cy="173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Global Sales measured in millions of units require continuous numerical predictions, not categorical </a:t>
            </a:r>
          </a:p>
          <a:p>
            <a:pPr marL="0" indent="0" algn="l">
              <a:lnSpc>
                <a:spcPts val="135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classifications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965716" y="3241893"/>
            <a:ext cx="7212568" cy="648057"/>
          </a:xfrm>
          <a:prstGeom prst="roundRect">
            <a:avLst>
              <a:gd name="adj" fmla="val 7021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1081564" y="3329702"/>
            <a:ext cx="2004774" cy="178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Arial Black" panose="020B0A04020102020204" pitchFamily="34" charset="0"/>
                <a:ea typeface="Alexandria Semi Bold" pitchFamily="34" charset="-122"/>
                <a:cs typeface="Alexandria Semi Bold" pitchFamily="34" charset="-120"/>
              </a:rPr>
              <a:t>Interpretable &amp; Transparent</a:t>
            </a:r>
            <a:endParaRPr lang="en-US" sz="1400" dirty="0">
              <a:latin typeface="Arial Black" panose="020B0A04020102020204" pitchFamily="34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1081564" y="3572708"/>
            <a:ext cx="6980873" cy="173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Easily explain how each feature affects sales through coefficient analysis and visualization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965716" y="3970139"/>
            <a:ext cx="7212568" cy="648057"/>
          </a:xfrm>
          <a:prstGeom prst="roundRect">
            <a:avLst>
              <a:gd name="adj" fmla="val 7021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1081564" y="4085987"/>
            <a:ext cx="1425297" cy="178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Arial Black" panose="020B0A04020102020204" pitchFamily="34" charset="0"/>
                <a:ea typeface="Alexandria Semi Bold" pitchFamily="34" charset="-122"/>
                <a:cs typeface="Alexandria Semi Bold" pitchFamily="34" charset="-120"/>
              </a:rPr>
              <a:t>Efficient for Trends</a:t>
            </a:r>
            <a:endParaRPr lang="en-US" sz="1400" dirty="0">
              <a:latin typeface="Arial Black" panose="020B0A04020102020204" pitchFamily="34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1081564" y="4328993"/>
            <a:ext cx="6980873" cy="173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Suitable for historical pattern analysis and business forecasting problems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965716" y="4726424"/>
            <a:ext cx="7212568" cy="648057"/>
          </a:xfrm>
          <a:prstGeom prst="roundRect">
            <a:avLst>
              <a:gd name="adj" fmla="val 7021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1081564" y="4842272"/>
            <a:ext cx="1425297" cy="178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Arial Black" panose="020B0A04020102020204" pitchFamily="34" charset="0"/>
                <a:ea typeface="Alexandria Semi Bold" pitchFamily="34" charset="-122"/>
                <a:cs typeface="Alexandria Semi Bold" pitchFamily="34" charset="-120"/>
              </a:rPr>
              <a:t>Fast Deployment</a:t>
            </a:r>
            <a:endParaRPr lang="en-US" sz="1400" dirty="0">
              <a:latin typeface="Arial Black" panose="020B0A04020102020204" pitchFamily="34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1081564" y="5085278"/>
            <a:ext cx="6980873" cy="173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Quick training and prediction for real-time business decisions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965716" y="5604510"/>
            <a:ext cx="2112764" cy="2138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600" dirty="0">
                <a:solidFill>
                  <a:srgbClr val="1F1E1E"/>
                </a:solidFill>
                <a:latin typeface="Arial Black" panose="020B0A04020102020204" pitchFamily="34" charset="0"/>
                <a:ea typeface="Alexandria Semi Bold" pitchFamily="34" charset="-122"/>
                <a:cs typeface="Alexandria Semi Bold" pitchFamily="34" charset="-120"/>
              </a:rPr>
              <a:t>Why NOT Other Models?</a:t>
            </a:r>
            <a:endParaRPr lang="en-US" sz="1600" dirty="0">
              <a:latin typeface="Arial Black" panose="020B0A04020102020204" pitchFamily="34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965716" y="5926574"/>
            <a:ext cx="3474125" cy="173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350"/>
              </a:lnSpc>
              <a:buSzPct val="100000"/>
              <a:buChar char="•"/>
            </a:pPr>
            <a:r>
              <a:rPr lang="en-US" sz="105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Classification: Sales are continuous, not categorical bins</a:t>
            </a:r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965716" y="6137791"/>
            <a:ext cx="3474125" cy="173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350"/>
              </a:lnSpc>
              <a:buSzPct val="100000"/>
              <a:buChar char="•"/>
            </a:pPr>
            <a:r>
              <a:rPr lang="en-US" sz="105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Neural Networks: Excessive complexity, less interpretable</a:t>
            </a:r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965716" y="6349008"/>
            <a:ext cx="3474125" cy="346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350"/>
              </a:lnSpc>
              <a:buSzPct val="100000"/>
              <a:buChar char="•"/>
            </a:pPr>
            <a:r>
              <a:rPr lang="en-US" sz="105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Random Forest: Good accuracy but opaque for business insights</a:t>
            </a:r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965716" y="6733580"/>
            <a:ext cx="3474125" cy="173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350"/>
              </a:lnSpc>
              <a:buSzPct val="100000"/>
              <a:buChar char="•"/>
            </a:pPr>
            <a:r>
              <a:rPr lang="en-US" sz="105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Time Series: Temporal aspect exists but not primary focus</a:t>
            </a:r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5340798" y="5601631"/>
            <a:ext cx="1899404" cy="2138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dirty="0">
                <a:solidFill>
                  <a:srgbClr val="1F1E1E"/>
                </a:solidFill>
                <a:latin typeface="Arial Black" panose="020B0A04020102020204" pitchFamily="34" charset="0"/>
                <a:ea typeface="Alexandria Semi Bold" pitchFamily="34" charset="-122"/>
                <a:cs typeface="Alexandria Semi Bold" pitchFamily="34" charset="-120"/>
              </a:rPr>
              <a:t>Practical Applications</a:t>
            </a:r>
            <a:endParaRPr lang="en-US" dirty="0">
              <a:latin typeface="Arial Black" panose="020B0A04020102020204" pitchFamily="34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5340798" y="5923695"/>
            <a:ext cx="3474125" cy="173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350"/>
              </a:lnSpc>
              <a:buSzPct val="100000"/>
              <a:buChar char="•"/>
            </a:pPr>
            <a:r>
              <a:rPr lang="en-US" sz="105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Forecast sales before game launch</a:t>
            </a:r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5340798" y="6134912"/>
            <a:ext cx="3474125" cy="173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350"/>
              </a:lnSpc>
              <a:buSzPct val="100000"/>
              <a:buChar char="•"/>
            </a:pPr>
            <a:r>
              <a:rPr lang="en-US" sz="105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Identify key success drivers</a:t>
            </a:r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5340798" y="6346129"/>
            <a:ext cx="3474125" cy="173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350"/>
              </a:lnSpc>
              <a:buSzPct val="100000"/>
              <a:buChar char="•"/>
            </a:pPr>
            <a:r>
              <a:rPr lang="en-US" sz="105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Guide budget allocation decisions</a:t>
            </a:r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5340798" y="6557346"/>
            <a:ext cx="3474125" cy="173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350"/>
              </a:lnSpc>
              <a:buSzPct val="100000"/>
              <a:buChar char="•"/>
            </a:pPr>
            <a:r>
              <a:rPr lang="en-US" sz="105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Optimize marketing strategies</a:t>
            </a:r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95400" y="755809"/>
            <a:ext cx="1429822" cy="355044"/>
          </a:xfrm>
          <a:prstGeom prst="roundRect">
            <a:avLst>
              <a:gd name="adj" fmla="val 17113"/>
            </a:avLst>
          </a:prstGeom>
          <a:noFill/>
          <a:ln w="7620">
            <a:solidFill>
              <a:srgbClr val="1A2D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1411486" y="817602"/>
            <a:ext cx="1197650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00" dirty="0">
                <a:solidFill>
                  <a:srgbClr val="1A2D7A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METHODOLOGY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1295400" y="1183124"/>
            <a:ext cx="8395573" cy="5948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3700" dirty="0">
                <a:solidFill>
                  <a:srgbClr val="1F1E1E"/>
                </a:solidFill>
                <a:latin typeface="Arial Black" panose="020B0A04020102020204" pitchFamily="34" charset="0"/>
                <a:ea typeface="Alexandria Semi Bold" pitchFamily="34" charset="-122"/>
                <a:cs typeface="Alexandria Semi Bold" pitchFamily="34" charset="-120"/>
              </a:rPr>
              <a:t>Linear Regression Model Workflow</a:t>
            </a:r>
            <a:endParaRPr lang="en-US" sz="3700" dirty="0">
              <a:latin typeface="Arial Black" panose="020B0A04020102020204" pitchFamily="34" charset="0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5400" y="2049185"/>
            <a:ext cx="904042" cy="108489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380178" y="2229922"/>
            <a:ext cx="2379345" cy="2972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Arial Black" panose="020B0A04020102020204" pitchFamily="34" charset="0"/>
                <a:ea typeface="Alexandria Semi Bold" pitchFamily="34" charset="-122"/>
                <a:cs typeface="Alexandria Semi Bold" pitchFamily="34" charset="-120"/>
              </a:rPr>
              <a:t>Input Features</a:t>
            </a:r>
            <a:endParaRPr lang="en-US" sz="1850" dirty="0">
              <a:latin typeface="Arial Black" panose="020B0A0402010202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2380178" y="2635687"/>
            <a:ext cx="10954702" cy="289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Platform, Genre, Year, NA_Sales, EU_Sales, JP_Sales, Other_Sales from 16,598 game records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5400" y="3134082"/>
            <a:ext cx="904042" cy="108489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380178" y="3314819"/>
            <a:ext cx="2379345" cy="2972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Arial Black" panose="020B0A04020102020204" pitchFamily="34" charset="0"/>
                <a:ea typeface="Alexandria Semi Bold" pitchFamily="34" charset="-122"/>
                <a:cs typeface="Alexandria Semi Bold" pitchFamily="34" charset="-120"/>
              </a:rPr>
              <a:t>Feature Processing</a:t>
            </a:r>
            <a:endParaRPr lang="en-US" sz="1850" dirty="0">
              <a:latin typeface="Arial Black" panose="020B0A04020102020204" pitchFamily="34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2380178" y="3720584"/>
            <a:ext cx="10954702" cy="289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One-hot encoding for categorical variables (Platform, Genre) and StandardScaler normalization for numerical features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5400" y="4218980"/>
            <a:ext cx="904042" cy="108489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2380178" y="4399717"/>
            <a:ext cx="2711053" cy="2972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Arial Black" panose="020B0A04020102020204" pitchFamily="34" charset="0"/>
                <a:ea typeface="Alexandria Semi Bold" pitchFamily="34" charset="-122"/>
                <a:cs typeface="Alexandria Semi Bold" pitchFamily="34" charset="-120"/>
              </a:rPr>
              <a:t>Algorithm Application</a:t>
            </a:r>
            <a:endParaRPr lang="en-US" sz="1850" dirty="0">
              <a:latin typeface="Arial Black" panose="020B0A04020102020204" pitchFamily="34" charset="0"/>
            </a:endParaRPr>
          </a:p>
        </p:txBody>
      </p:sp>
      <p:sp>
        <p:nvSpPr>
          <p:cNvPr id="13" name="Text 8"/>
          <p:cNvSpPr/>
          <p:nvPr/>
        </p:nvSpPr>
        <p:spPr>
          <a:xfrm>
            <a:off x="2380178" y="4805482"/>
            <a:ext cx="10954702" cy="289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Fit linear equation using Ordinary Least Squares to minimize prediction error and calculate optimal coefficients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95400" y="5303877"/>
            <a:ext cx="904042" cy="108489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2380178" y="5484614"/>
            <a:ext cx="2379345" cy="2972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Arial Black" panose="020B0A04020102020204" pitchFamily="34" charset="0"/>
                <a:ea typeface="Alexandria Semi Bold" pitchFamily="34" charset="-122"/>
                <a:cs typeface="Alexandria Semi Bold" pitchFamily="34" charset="-120"/>
              </a:rPr>
              <a:t>Learning Phase</a:t>
            </a:r>
            <a:endParaRPr lang="en-US" sz="1850" dirty="0">
              <a:latin typeface="Arial Black" panose="020B0A04020102020204" pitchFamily="34" charset="0"/>
            </a:endParaRPr>
          </a:p>
        </p:txBody>
      </p:sp>
      <p:sp>
        <p:nvSpPr>
          <p:cNvPr id="16" name="Text 10"/>
          <p:cNvSpPr/>
          <p:nvPr/>
        </p:nvSpPr>
        <p:spPr>
          <a:xfrm>
            <a:off x="2380178" y="5890379"/>
            <a:ext cx="10954702" cy="289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Model analyzes 13,278 training samples, adjusts weights to minimize MSE, and discovers feature relationships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95400" y="6388775"/>
            <a:ext cx="904042" cy="108489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2380178" y="6569512"/>
            <a:ext cx="2379345" cy="2972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Arial Black" panose="020B0A04020102020204" pitchFamily="34" charset="0"/>
                <a:ea typeface="Alexandria Semi Bold" pitchFamily="34" charset="-122"/>
                <a:cs typeface="Alexandria Semi Bold" pitchFamily="34" charset="-120"/>
              </a:rPr>
              <a:t>Output Predictions</a:t>
            </a:r>
            <a:endParaRPr lang="en-US" sz="1850" dirty="0">
              <a:latin typeface="Arial Black" panose="020B0A04020102020204" pitchFamily="34" charset="0"/>
            </a:endParaRPr>
          </a:p>
        </p:txBody>
      </p:sp>
      <p:sp>
        <p:nvSpPr>
          <p:cNvPr id="19" name="Text 12"/>
          <p:cNvSpPr/>
          <p:nvPr/>
        </p:nvSpPr>
        <p:spPr>
          <a:xfrm>
            <a:off x="2380178" y="6975277"/>
            <a:ext cx="10954702" cy="289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Generate predicted Global_Sales values for 3,320 unseen test games and compare accuracy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F32262F-824C-74E0-50AB-B4855F5F7DBD}"/>
              </a:ext>
            </a:extLst>
          </p:cNvPr>
          <p:cNvSpPr txBox="1"/>
          <p:nvPr/>
        </p:nvSpPr>
        <p:spPr>
          <a:xfrm>
            <a:off x="12697691" y="7606145"/>
            <a:ext cx="1859973" cy="56102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53703" y="418862"/>
            <a:ext cx="1571625" cy="246221"/>
          </a:xfrm>
          <a:prstGeom prst="roundRect">
            <a:avLst>
              <a:gd name="adj" fmla="val 17879"/>
            </a:avLst>
          </a:prstGeom>
          <a:solidFill>
            <a:srgbClr val="D5DCF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32284" y="489585"/>
            <a:ext cx="104775" cy="10477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189446" y="458153"/>
            <a:ext cx="861536" cy="167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REPROCESSING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2953703" y="717471"/>
            <a:ext cx="5134213" cy="4310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700" dirty="0">
                <a:solidFill>
                  <a:srgbClr val="1F1E1E"/>
                </a:solidFill>
                <a:latin typeface="Arial Black" panose="020B0A04020102020204" pitchFamily="34" charset="0"/>
                <a:ea typeface="Alexandria Semi Bold" pitchFamily="34" charset="-122"/>
                <a:cs typeface="Alexandria Semi Bold" panose="020B0604020202020204" charset="-78"/>
              </a:rPr>
              <a:t>Data Transformation Pipeline</a:t>
            </a:r>
            <a:endParaRPr lang="en-US" sz="2700" dirty="0">
              <a:latin typeface="Arial Black" panose="020B0A04020102020204" pitchFamily="34" charset="0"/>
              <a:cs typeface="Alexandria Semi Bold" panose="020B0604020202020204" charset="-78"/>
            </a:endParaRPr>
          </a:p>
        </p:txBody>
      </p:sp>
      <p:sp>
        <p:nvSpPr>
          <p:cNvPr id="6" name="Shape 3"/>
          <p:cNvSpPr/>
          <p:nvPr/>
        </p:nvSpPr>
        <p:spPr>
          <a:xfrm>
            <a:off x="7307461" y="1344930"/>
            <a:ext cx="15240" cy="6465689"/>
          </a:xfrm>
          <a:prstGeom prst="roundRect">
            <a:avLst>
              <a:gd name="adj" fmla="val 361069"/>
            </a:avLst>
          </a:prstGeom>
          <a:solidFill>
            <a:srgbClr val="BBC2D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6789956" y="1484590"/>
            <a:ext cx="393025" cy="15240"/>
          </a:xfrm>
          <a:prstGeom prst="roundRect">
            <a:avLst>
              <a:gd name="adj" fmla="val 361069"/>
            </a:avLst>
          </a:prstGeom>
          <a:solidFill>
            <a:srgbClr val="BBC2D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7167741" y="1344930"/>
            <a:ext cx="294680" cy="294680"/>
          </a:xfrm>
          <a:prstGeom prst="roundRect">
            <a:avLst>
              <a:gd name="adj" fmla="val 18673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7211616" y="1362968"/>
            <a:ext cx="206812" cy="258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Arial" panose="020B0604020202020204" pitchFamily="34" charset="0"/>
                <a:ea typeface="Alexandria Semi Bold" pitchFamily="34" charset="-122"/>
                <a:cs typeface="Arial" panose="020B0604020202020204" pitchFamily="34" charset="0"/>
              </a:rPr>
              <a:t>1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4525328" y="1389936"/>
            <a:ext cx="2134791" cy="2155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Arial Black" panose="020B0A04020102020204" pitchFamily="34" charset="0"/>
                <a:ea typeface="Alexandria Semi Bold" pitchFamily="34" charset="-122"/>
                <a:cs typeface="Alexandria Semi Bold" panose="020B0604020202020204" charset="-78"/>
              </a:rPr>
              <a:t>Handling Missing Values</a:t>
            </a:r>
            <a:endParaRPr lang="en-US" sz="1350" dirty="0">
              <a:latin typeface="Arial Black" panose="020B0A04020102020204" pitchFamily="34" charset="0"/>
              <a:cs typeface="Alexandria Semi Bold" panose="020B0604020202020204" charset="-78"/>
            </a:endParaRPr>
          </a:p>
        </p:txBody>
      </p:sp>
      <p:sp>
        <p:nvSpPr>
          <p:cNvPr id="11" name="Text 8"/>
          <p:cNvSpPr/>
          <p:nvPr/>
        </p:nvSpPr>
        <p:spPr>
          <a:xfrm>
            <a:off x="2953703" y="1684020"/>
            <a:ext cx="3706416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Identified:</a:t>
            </a:r>
            <a:r>
              <a:rPr lang="en-US" sz="12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 271 missing Year values (1.63%), 58 missing Publisher values (0.35%)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2953703" y="2181701"/>
            <a:ext cx="3706416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Method:</a:t>
            </a:r>
            <a:r>
              <a:rPr lang="en-US" sz="12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 Row removal for records with missing data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2953703" y="2469832"/>
            <a:ext cx="3706416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Result:</a:t>
            </a:r>
            <a:r>
              <a:rPr lang="en-US" sz="12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 16,269 clean records (98.02% retention)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7447181" y="2270522"/>
            <a:ext cx="393025" cy="15240"/>
          </a:xfrm>
          <a:prstGeom prst="roundRect">
            <a:avLst>
              <a:gd name="adj" fmla="val 361069"/>
            </a:avLst>
          </a:prstGeom>
          <a:solidFill>
            <a:srgbClr val="BBC2D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2"/>
          <p:cNvSpPr/>
          <p:nvPr/>
        </p:nvSpPr>
        <p:spPr>
          <a:xfrm>
            <a:off x="7167741" y="2130862"/>
            <a:ext cx="294680" cy="294680"/>
          </a:xfrm>
          <a:prstGeom prst="roundRect">
            <a:avLst>
              <a:gd name="adj" fmla="val 18673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7211616" y="2148900"/>
            <a:ext cx="206812" cy="258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Arial" panose="020B0604020202020204" pitchFamily="34" charset="0"/>
                <a:ea typeface="Alexandria Semi Bold" pitchFamily="34" charset="-122"/>
                <a:cs typeface="Arial" panose="020B0604020202020204" pitchFamily="34" charset="0"/>
              </a:rPr>
              <a:t>2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7970044" y="2175867"/>
            <a:ext cx="1723787" cy="2155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Arial Black" panose="020B0A04020102020204" pitchFamily="34" charset="0"/>
                <a:ea typeface="Alexandria Semi Bold" pitchFamily="34" charset="-122"/>
                <a:cs typeface="Alexandria Semi Bold" panose="020B0604020202020204" charset="-78"/>
              </a:rPr>
              <a:t>Data Exploration</a:t>
            </a:r>
            <a:endParaRPr lang="en-US" sz="1350" dirty="0">
              <a:latin typeface="Arial Black" panose="020B0A04020102020204" pitchFamily="34" charset="0"/>
              <a:cs typeface="Alexandria Semi Bold" panose="020B0604020202020204" charset="-78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7970044" y="2469952"/>
            <a:ext cx="370653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Analysis:</a:t>
            </a:r>
            <a:r>
              <a:rPr lang="en-US" sz="12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 Examined 16,598 records to understand feature distributions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7970044" y="2967633"/>
            <a:ext cx="370653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Findings:</a:t>
            </a:r>
            <a:r>
              <a:rPr lang="en-US" sz="12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 Identified outliers (Wii Sports: 82.74M), confirmed regional-global sales correlations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7970044" y="3465314"/>
            <a:ext cx="370653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Categorical Features:</a:t>
            </a:r>
            <a:r>
              <a:rPr lang="en-US" sz="12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 31 platforms, 12 genres documented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6789956" y="3278267"/>
            <a:ext cx="393025" cy="15240"/>
          </a:xfrm>
          <a:prstGeom prst="roundRect">
            <a:avLst>
              <a:gd name="adj" fmla="val 361069"/>
            </a:avLst>
          </a:prstGeom>
          <a:solidFill>
            <a:srgbClr val="BBC2D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19"/>
          <p:cNvSpPr/>
          <p:nvPr/>
        </p:nvSpPr>
        <p:spPr>
          <a:xfrm>
            <a:off x="7167741" y="3138607"/>
            <a:ext cx="294680" cy="294680"/>
          </a:xfrm>
          <a:prstGeom prst="roundRect">
            <a:avLst>
              <a:gd name="adj" fmla="val 18673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/>
          <p:nvPr/>
        </p:nvSpPr>
        <p:spPr>
          <a:xfrm>
            <a:off x="7211616" y="3156645"/>
            <a:ext cx="206812" cy="258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Arial" panose="020B0604020202020204" pitchFamily="34" charset="0"/>
                <a:ea typeface="Alexandria Semi Bold" pitchFamily="34" charset="-122"/>
                <a:cs typeface="Arial" panose="020B0604020202020204" pitchFamily="34" charset="0"/>
              </a:rPr>
              <a:t>3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4936331" y="3183612"/>
            <a:ext cx="1723787" cy="2155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Arial Black" panose="020B0A04020102020204" pitchFamily="34" charset="0"/>
                <a:ea typeface="Alexandria Semi Bold" pitchFamily="34" charset="-122"/>
                <a:cs typeface="Alexandria Semi Bold" panose="020B0604020202020204" charset="-78"/>
              </a:rPr>
              <a:t>Outlier Detection</a:t>
            </a:r>
            <a:endParaRPr lang="en-US" sz="1350" dirty="0">
              <a:latin typeface="Arial Black" panose="020B0A04020102020204" pitchFamily="34" charset="0"/>
              <a:cs typeface="Alexandria Semi Bold" panose="020B0604020202020204" charset="-78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2953703" y="3477697"/>
            <a:ext cx="3706416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Method:</a:t>
            </a:r>
            <a:r>
              <a:rPr lang="en-US" sz="12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 IQR method identified high-performing games (&gt;10M sales)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2953703" y="3975378"/>
            <a:ext cx="3706416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Decision:</a:t>
            </a:r>
            <a:r>
              <a:rPr lang="en-US" sz="12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 Retained outliers as valid blockbuster phenomena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2953703" y="4473059"/>
            <a:ext cx="3706416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Rationale:</a:t>
            </a:r>
            <a:r>
              <a:rPr lang="en-US" sz="12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 These represent real market events worth modeling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Shape 25"/>
          <p:cNvSpPr/>
          <p:nvPr/>
        </p:nvSpPr>
        <p:spPr>
          <a:xfrm>
            <a:off x="7447181" y="4286012"/>
            <a:ext cx="393025" cy="15240"/>
          </a:xfrm>
          <a:prstGeom prst="roundRect">
            <a:avLst>
              <a:gd name="adj" fmla="val 361069"/>
            </a:avLst>
          </a:prstGeom>
          <a:solidFill>
            <a:srgbClr val="BBC2D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Shape 26"/>
          <p:cNvSpPr/>
          <p:nvPr/>
        </p:nvSpPr>
        <p:spPr>
          <a:xfrm>
            <a:off x="7167741" y="4146352"/>
            <a:ext cx="294680" cy="294680"/>
          </a:xfrm>
          <a:prstGeom prst="roundRect">
            <a:avLst>
              <a:gd name="adj" fmla="val 18673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7"/>
          <p:cNvSpPr/>
          <p:nvPr/>
        </p:nvSpPr>
        <p:spPr>
          <a:xfrm>
            <a:off x="7211616" y="4164390"/>
            <a:ext cx="206812" cy="258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Arial" panose="020B0604020202020204" pitchFamily="34" charset="0"/>
                <a:ea typeface="Alexandria Semi Bold" pitchFamily="34" charset="-122"/>
                <a:cs typeface="Arial" panose="020B0604020202020204" pitchFamily="34" charset="0"/>
              </a:rPr>
              <a:t>4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7970044" y="4191357"/>
            <a:ext cx="1869043" cy="2155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Arial Black" panose="020B0A04020102020204" pitchFamily="34" charset="0"/>
                <a:ea typeface="Alexandria Semi Bold" pitchFamily="34" charset="-122"/>
                <a:cs typeface="Alexandria Semi Bold" panose="020B0604020202020204" charset="-78"/>
              </a:rPr>
              <a:t>Categorical Encoding</a:t>
            </a:r>
            <a:endParaRPr lang="en-US" sz="1350" dirty="0">
              <a:latin typeface="Arial Black" panose="020B0A04020102020204" pitchFamily="34" charset="0"/>
              <a:cs typeface="Alexandria Semi Bold" panose="020B0604020202020204" charset="-78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7970044" y="4485442"/>
            <a:ext cx="370653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Platform Encoding:</a:t>
            </a:r>
            <a:r>
              <a:rPr lang="en-US" sz="12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 One-hot encoding for 31 unique values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7970044" y="4983123"/>
            <a:ext cx="370653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Genre Encoding:</a:t>
            </a:r>
            <a:r>
              <a:rPr lang="en-US" sz="12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 One-hot encoding for 12 unique categories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Text 31"/>
          <p:cNvSpPr/>
          <p:nvPr/>
        </p:nvSpPr>
        <p:spPr>
          <a:xfrm>
            <a:off x="7970044" y="5480804"/>
            <a:ext cx="3706535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Result:</a:t>
            </a:r>
            <a:r>
              <a:rPr lang="en-US" sz="12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 43 additional numerical feature columns created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Shape 32"/>
          <p:cNvSpPr/>
          <p:nvPr/>
        </p:nvSpPr>
        <p:spPr>
          <a:xfrm>
            <a:off x="6789956" y="5293757"/>
            <a:ext cx="393025" cy="15240"/>
          </a:xfrm>
          <a:prstGeom prst="roundRect">
            <a:avLst>
              <a:gd name="adj" fmla="val 361069"/>
            </a:avLst>
          </a:prstGeom>
          <a:solidFill>
            <a:srgbClr val="BBC2D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Shape 33"/>
          <p:cNvSpPr/>
          <p:nvPr/>
        </p:nvSpPr>
        <p:spPr>
          <a:xfrm>
            <a:off x="7167741" y="5154097"/>
            <a:ext cx="294680" cy="294680"/>
          </a:xfrm>
          <a:prstGeom prst="roundRect">
            <a:avLst>
              <a:gd name="adj" fmla="val 18673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4"/>
          <p:cNvSpPr/>
          <p:nvPr/>
        </p:nvSpPr>
        <p:spPr>
          <a:xfrm>
            <a:off x="7211616" y="5172135"/>
            <a:ext cx="206812" cy="258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Arial" panose="020B0604020202020204" pitchFamily="34" charset="0"/>
                <a:ea typeface="Alexandria Semi Bold" pitchFamily="34" charset="-122"/>
                <a:cs typeface="Arial" panose="020B0604020202020204" pitchFamily="34" charset="0"/>
              </a:rPr>
              <a:t>5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Text 35"/>
          <p:cNvSpPr/>
          <p:nvPr/>
        </p:nvSpPr>
        <p:spPr>
          <a:xfrm>
            <a:off x="4936331" y="5199102"/>
            <a:ext cx="1723787" cy="2155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Arial Black" panose="020B0A04020102020204" pitchFamily="34" charset="0"/>
                <a:ea typeface="Alexandria Semi Bold" pitchFamily="34" charset="-122"/>
                <a:cs typeface="Alexandria Semi Bold" panose="020B0604020202020204" charset="-78"/>
              </a:rPr>
              <a:t>Feature Scaling</a:t>
            </a:r>
            <a:endParaRPr lang="en-US" sz="1350" dirty="0">
              <a:latin typeface="Arial Black" panose="020B0A04020102020204" pitchFamily="34" charset="0"/>
              <a:cs typeface="Alexandria Semi Bold" panose="020B0604020202020204" charset="-78"/>
            </a:endParaRPr>
          </a:p>
        </p:txBody>
      </p:sp>
      <p:sp>
        <p:nvSpPr>
          <p:cNvPr id="39" name="Text 36"/>
          <p:cNvSpPr/>
          <p:nvPr/>
        </p:nvSpPr>
        <p:spPr>
          <a:xfrm>
            <a:off x="2953703" y="5493187"/>
            <a:ext cx="3706416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Method:</a:t>
            </a:r>
            <a:r>
              <a:rPr lang="en-US" sz="12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 StandardScaler applied to all numerical features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Text 37"/>
          <p:cNvSpPr/>
          <p:nvPr/>
        </p:nvSpPr>
        <p:spPr>
          <a:xfrm>
            <a:off x="2953703" y="5990868"/>
            <a:ext cx="3706416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Transformation:</a:t>
            </a:r>
            <a:r>
              <a:rPr lang="en-US" sz="12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 (X - mean) / standard_deviation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Text 38"/>
          <p:cNvSpPr/>
          <p:nvPr/>
        </p:nvSpPr>
        <p:spPr>
          <a:xfrm>
            <a:off x="2953703" y="6278999"/>
            <a:ext cx="3706416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Result:</a:t>
            </a:r>
            <a:r>
              <a:rPr lang="en-US" sz="12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 Features normalized to mean=0, std=1 for equal contribution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Shape 39"/>
          <p:cNvSpPr/>
          <p:nvPr/>
        </p:nvSpPr>
        <p:spPr>
          <a:xfrm>
            <a:off x="7447181" y="6196727"/>
            <a:ext cx="393025" cy="15240"/>
          </a:xfrm>
          <a:prstGeom prst="roundRect">
            <a:avLst>
              <a:gd name="adj" fmla="val 361069"/>
            </a:avLst>
          </a:prstGeom>
          <a:solidFill>
            <a:srgbClr val="BBC2D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Shape 40"/>
          <p:cNvSpPr/>
          <p:nvPr/>
        </p:nvSpPr>
        <p:spPr>
          <a:xfrm>
            <a:off x="7167741" y="6057067"/>
            <a:ext cx="294680" cy="294680"/>
          </a:xfrm>
          <a:prstGeom prst="roundRect">
            <a:avLst>
              <a:gd name="adj" fmla="val 18673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1"/>
          <p:cNvSpPr/>
          <p:nvPr/>
        </p:nvSpPr>
        <p:spPr>
          <a:xfrm>
            <a:off x="7211616" y="6075105"/>
            <a:ext cx="206812" cy="258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Arial" panose="020B0604020202020204" pitchFamily="34" charset="0"/>
                <a:ea typeface="Alexandria Semi Bold" pitchFamily="34" charset="-122"/>
                <a:cs typeface="Arial" panose="020B0604020202020204" pitchFamily="34" charset="0"/>
              </a:rPr>
              <a:t>6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Text 42"/>
          <p:cNvSpPr/>
          <p:nvPr/>
        </p:nvSpPr>
        <p:spPr>
          <a:xfrm>
            <a:off x="7970044" y="6102072"/>
            <a:ext cx="1723787" cy="2155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Arial Black" panose="020B0A04020102020204" pitchFamily="34" charset="0"/>
                <a:ea typeface="Alexandria Semi Bold" pitchFamily="34" charset="-122"/>
                <a:cs typeface="Alexandria Semi Bold" panose="020B0604020202020204" charset="-78"/>
              </a:rPr>
              <a:t>Train-Test Split</a:t>
            </a:r>
            <a:endParaRPr lang="en-US" sz="1350" dirty="0">
              <a:latin typeface="Arial Black" panose="020B0A04020102020204" pitchFamily="34" charset="0"/>
              <a:cs typeface="Alexandria Semi Bold" panose="020B0604020202020204" charset="-78"/>
            </a:endParaRPr>
          </a:p>
        </p:txBody>
      </p:sp>
      <p:sp>
        <p:nvSpPr>
          <p:cNvPr id="46" name="Text 43"/>
          <p:cNvSpPr/>
          <p:nvPr/>
        </p:nvSpPr>
        <p:spPr>
          <a:xfrm>
            <a:off x="7970044" y="6396157"/>
            <a:ext cx="370653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Split Ratio:</a:t>
            </a:r>
            <a:r>
              <a:rPr lang="en-US" sz="12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 80% Training (13,278 games), 20% Testing (3,320 games)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Text 44"/>
          <p:cNvSpPr/>
          <p:nvPr/>
        </p:nvSpPr>
        <p:spPr>
          <a:xfrm>
            <a:off x="7970044" y="6893838"/>
            <a:ext cx="370653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Method:</a:t>
            </a:r>
            <a:r>
              <a:rPr lang="en-US" sz="12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 Random split ensures representative distribution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Text 45"/>
          <p:cNvSpPr/>
          <p:nvPr/>
        </p:nvSpPr>
        <p:spPr>
          <a:xfrm>
            <a:off x="7970044" y="7391519"/>
            <a:ext cx="370653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Quality Control:</a:t>
            </a:r>
            <a:r>
              <a:rPr lang="en-US" sz="12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 Scaling fitted only on training data to prevent leakage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BEFC89C-9D9E-99BA-4391-FD4E7C956D2F}"/>
              </a:ext>
            </a:extLst>
          </p:cNvPr>
          <p:cNvSpPr txBox="1"/>
          <p:nvPr/>
        </p:nvSpPr>
        <p:spPr>
          <a:xfrm>
            <a:off x="12697691" y="7606145"/>
            <a:ext cx="1859973" cy="56102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70152" y="540782"/>
            <a:ext cx="7464743" cy="508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00" dirty="0">
                <a:solidFill>
                  <a:srgbClr val="1F1E1E"/>
                </a:solidFill>
                <a:latin typeface="Arial Black" panose="020B0A04020102020204" pitchFamily="34" charset="0"/>
                <a:ea typeface="Alexandria Semi Bold" pitchFamily="34" charset="-122"/>
                <a:cs typeface="Alexandria Semi Bold" pitchFamily="34" charset="-120"/>
              </a:rPr>
              <a:t>Model Training &amp; Evaluation Process</a:t>
            </a:r>
            <a:endParaRPr lang="en-US" sz="3200" dirty="0">
              <a:latin typeface="Arial Black" panose="020B0A040201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2170152" y="1435537"/>
            <a:ext cx="3138845" cy="305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1F1E1E"/>
                </a:solidFill>
                <a:latin typeface="Arial Black" panose="020B0A04020102020204" pitchFamily="34" charset="0"/>
                <a:ea typeface="Alexandria Semi Bold" pitchFamily="34" charset="-122"/>
                <a:cs typeface="Alexandria Semi Bold" pitchFamily="34" charset="-120"/>
              </a:rPr>
              <a:t>Training &amp; Testing Phases</a:t>
            </a:r>
            <a:endParaRPr lang="en-US" sz="1900" dirty="0">
              <a:latin typeface="Arial Black" panose="020B0A040201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2170152" y="1914406"/>
            <a:ext cx="154543" cy="1931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Arial" panose="020B0604020202020204" pitchFamily="34" charset="0"/>
                <a:ea typeface="Alexandria Light" pitchFamily="34" charset="-122"/>
                <a:cs typeface="Arial" panose="020B0604020202020204" pitchFamily="34" charset="0"/>
              </a:rPr>
              <a:t>01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170152" y="2154079"/>
            <a:ext cx="4956453" cy="22860"/>
          </a:xfrm>
          <a:prstGeom prst="rect">
            <a:avLst/>
          </a:prstGeom>
          <a:solidFill>
            <a:srgbClr val="1A2D7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170152" y="2277070"/>
            <a:ext cx="2033588" cy="254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Arial Black" panose="020B0A04020102020204" pitchFamily="34" charset="0"/>
                <a:ea typeface="Alexandria Semi Bold" pitchFamily="34" charset="-122"/>
                <a:cs typeface="Alexandria Semi Bold" pitchFamily="34" charset="-120"/>
              </a:rPr>
              <a:t>Model Training</a:t>
            </a:r>
            <a:endParaRPr lang="en-US" sz="1600" dirty="0">
              <a:latin typeface="Arial Black" panose="020B0A040201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2170152" y="2685812"/>
            <a:ext cx="4956453" cy="494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13,278 game records with preprocessed features. Multiple Linear Regression learns optimal coefficients using OLS method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2170152" y="3450550"/>
            <a:ext cx="154543" cy="1931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Arial" panose="020B0604020202020204" pitchFamily="34" charset="0"/>
                <a:ea typeface="Alexandria Light" pitchFamily="34" charset="-122"/>
                <a:cs typeface="Arial" panose="020B0604020202020204" pitchFamily="34" charset="0"/>
              </a:rPr>
              <a:t>02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170152" y="3690223"/>
            <a:ext cx="4956453" cy="22860"/>
          </a:xfrm>
          <a:prstGeom prst="rect">
            <a:avLst/>
          </a:prstGeom>
          <a:solidFill>
            <a:srgbClr val="1A2D7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170152" y="3813215"/>
            <a:ext cx="2033588" cy="254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Arial Black" panose="020B0A04020102020204" pitchFamily="34" charset="0"/>
                <a:ea typeface="Alexandria Semi Bold" pitchFamily="34" charset="-122"/>
                <a:cs typeface="Alexandria Semi Bold" pitchFamily="34" charset="-120"/>
              </a:rPr>
              <a:t>Model Testing</a:t>
            </a:r>
            <a:endParaRPr lang="en-US" sz="1600" dirty="0">
              <a:latin typeface="Arial Black" panose="020B0A040201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2170152" y="4221956"/>
            <a:ext cx="4956453" cy="494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3,320 unseen game records. Apply trained model to generate Global_Sales predictions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2170152" y="4986695"/>
            <a:ext cx="154543" cy="1931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Arial" panose="020B0604020202020204" pitchFamily="34" charset="0"/>
                <a:ea typeface="Alexandria Light" pitchFamily="34" charset="-122"/>
                <a:cs typeface="Arial" panose="020B0604020202020204" pitchFamily="34" charset="0"/>
              </a:rPr>
              <a:t>03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2170152" y="5226368"/>
            <a:ext cx="4956453" cy="22860"/>
          </a:xfrm>
          <a:prstGeom prst="rect">
            <a:avLst/>
          </a:prstGeom>
          <a:solidFill>
            <a:srgbClr val="1A2D7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2170152" y="5349359"/>
            <a:ext cx="2486263" cy="254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Arial Black" panose="020B0A04020102020204" pitchFamily="34" charset="0"/>
                <a:ea typeface="Alexandria Semi Bold" pitchFamily="34" charset="-122"/>
                <a:cs typeface="Alexandria Semi Bold" pitchFamily="34" charset="-120"/>
              </a:rPr>
              <a:t>Performance Evaluation</a:t>
            </a:r>
            <a:endParaRPr lang="en-US" sz="1600" dirty="0">
              <a:latin typeface="Arial Black" panose="020B0A040201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2170152" y="5758101"/>
            <a:ext cx="4956453" cy="494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Calculate prediction errors and accuracy metrics to assess generalization ability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511177" y="1435537"/>
            <a:ext cx="2440305" cy="305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1F1E1E"/>
                </a:solidFill>
                <a:latin typeface="Arial Black" panose="020B0A04020102020204" pitchFamily="34" charset="0"/>
                <a:ea typeface="Alexandria Semi Bold" pitchFamily="34" charset="-122"/>
                <a:cs typeface="Alexandria Semi Bold" pitchFamily="34" charset="-120"/>
              </a:rPr>
              <a:t>Evaluation Metrics</a:t>
            </a:r>
            <a:endParaRPr lang="en-US" sz="1900" dirty="0">
              <a:latin typeface="Arial Black" panose="020B0A0402010202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7511177" y="1914406"/>
            <a:ext cx="4956453" cy="1404580"/>
          </a:xfrm>
          <a:prstGeom prst="roundRect">
            <a:avLst>
              <a:gd name="adj" fmla="val 7812"/>
            </a:avLst>
          </a:prstGeom>
          <a:solidFill>
            <a:srgbClr val="FFFAFA"/>
          </a:solidFill>
          <a:ln w="22860">
            <a:solidFill>
              <a:srgbClr val="BBC2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7488317" y="1914406"/>
            <a:ext cx="91440" cy="1404580"/>
          </a:xfrm>
          <a:prstGeom prst="roundRect">
            <a:avLst>
              <a:gd name="adj" fmla="val 70990"/>
            </a:avLst>
          </a:prstGeom>
          <a:solidFill>
            <a:srgbClr val="1A2D7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7757160" y="2091809"/>
            <a:ext cx="2796659" cy="254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Arial Black" panose="020B0A04020102020204" pitchFamily="34" charset="0"/>
                <a:ea typeface="Alexandria Semi Bold" pitchFamily="34" charset="-122"/>
                <a:cs typeface="Alexandria Semi Bold" pitchFamily="34" charset="-120"/>
              </a:rPr>
              <a:t>MAE (Mean Absolute Error)</a:t>
            </a:r>
            <a:endParaRPr lang="en-US" sz="1600" dirty="0">
              <a:latin typeface="Arial Black" panose="020B0A04020102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7757160" y="2500551"/>
            <a:ext cx="4533067" cy="2471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Average prediction error in millions of units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7757160" y="2886789"/>
            <a:ext cx="4533067" cy="254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Average of |predicted - actual|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511177" y="3473529"/>
            <a:ext cx="4956453" cy="1404580"/>
          </a:xfrm>
          <a:prstGeom prst="roundRect">
            <a:avLst>
              <a:gd name="adj" fmla="val 7812"/>
            </a:avLst>
          </a:prstGeom>
          <a:solidFill>
            <a:srgbClr val="FFFAFA"/>
          </a:solidFill>
          <a:ln w="22860">
            <a:solidFill>
              <a:srgbClr val="BBC2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7488317" y="3473529"/>
            <a:ext cx="91440" cy="1404580"/>
          </a:xfrm>
          <a:prstGeom prst="roundRect">
            <a:avLst>
              <a:gd name="adj" fmla="val 70990"/>
            </a:avLst>
          </a:prstGeom>
          <a:solidFill>
            <a:srgbClr val="1A2D7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7757160" y="3650933"/>
            <a:ext cx="3405783" cy="254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Arial Black" panose="020B0A04020102020204" pitchFamily="34" charset="0"/>
                <a:ea typeface="Alexandria Semi Bold" pitchFamily="34" charset="-122"/>
                <a:cs typeface="Alexandria Semi Bold" pitchFamily="34" charset="-120"/>
              </a:rPr>
              <a:t>RMSE (Root Mean Squared Error)</a:t>
            </a:r>
            <a:endParaRPr lang="en-US" sz="1600" dirty="0">
              <a:latin typeface="Arial Black" panose="020B0A04020102020204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7757160" y="4059674"/>
            <a:ext cx="4533067" cy="2471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Typical prediction deviation in millions of units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7757160" y="4445913"/>
            <a:ext cx="4533067" cy="254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√(Average of (predicted - actual)²)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511177" y="5032653"/>
            <a:ext cx="4956453" cy="1404580"/>
          </a:xfrm>
          <a:prstGeom prst="roundRect">
            <a:avLst>
              <a:gd name="adj" fmla="val 7812"/>
            </a:avLst>
          </a:prstGeom>
          <a:solidFill>
            <a:srgbClr val="FFFAFA"/>
          </a:solidFill>
          <a:ln w="22860">
            <a:solidFill>
              <a:srgbClr val="BBC2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7488317" y="5032653"/>
            <a:ext cx="91440" cy="1404580"/>
          </a:xfrm>
          <a:prstGeom prst="roundRect">
            <a:avLst>
              <a:gd name="adj" fmla="val 70990"/>
            </a:avLst>
          </a:prstGeom>
          <a:solidFill>
            <a:srgbClr val="1A2D7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7757160" y="5210056"/>
            <a:ext cx="3995499" cy="254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Arial Black" panose="020B0A04020102020204" pitchFamily="34" charset="0"/>
                <a:ea typeface="Alexandria Semi Bold" pitchFamily="34" charset="-122"/>
                <a:cs typeface="Alexandria Semi Bold" pitchFamily="34" charset="-120"/>
              </a:rPr>
              <a:t>R² Score (Coefficient of Determination)</a:t>
            </a:r>
            <a:endParaRPr lang="en-US" sz="1600" dirty="0">
              <a:latin typeface="Arial Black" panose="020B0A04020102020204" pitchFamily="34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7757160" y="5618798"/>
            <a:ext cx="4533067" cy="2471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Percentage of variance explained by model (0-1 scale)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7757160" y="6005036"/>
            <a:ext cx="4533067" cy="254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1 - (SS_residual / SS_total)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2170152" y="6784896"/>
            <a:ext cx="10289977" cy="903803"/>
          </a:xfrm>
          <a:prstGeom prst="roundRect">
            <a:avLst>
              <a:gd name="adj" fmla="val 7182"/>
            </a:avLst>
          </a:prstGeom>
          <a:solidFill>
            <a:srgbClr val="C0CAF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4695" y="7018020"/>
            <a:ext cx="193119" cy="154543"/>
          </a:xfrm>
          <a:prstGeom prst="rect">
            <a:avLst/>
          </a:prstGeom>
        </p:spPr>
      </p:pic>
      <p:sp>
        <p:nvSpPr>
          <p:cNvPr id="34" name="Text 31"/>
          <p:cNvSpPr/>
          <p:nvPr/>
        </p:nvSpPr>
        <p:spPr>
          <a:xfrm>
            <a:off x="2672358" y="6978015"/>
            <a:ext cx="9633228" cy="494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Key Note:</a:t>
            </a: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 Model evaluation focuses on test set performance to ensure unbiased accuracy assessment. Test data was never seen during training, providing realistic performance expectations for deployment.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6F1688D-CB67-2265-A0B5-4E0AB9CF586A}"/>
              </a:ext>
            </a:extLst>
          </p:cNvPr>
          <p:cNvSpPr txBox="1"/>
          <p:nvPr/>
        </p:nvSpPr>
        <p:spPr>
          <a:xfrm>
            <a:off x="12697691" y="7606145"/>
            <a:ext cx="1859973" cy="56102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33907" y="304800"/>
            <a:ext cx="927702" cy="174545"/>
          </a:xfrm>
          <a:prstGeom prst="roundRect">
            <a:avLst>
              <a:gd name="adj" fmla="val 17894"/>
            </a:avLst>
          </a:prstGeom>
          <a:solidFill>
            <a:srgbClr val="D5DC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700224" y="337899"/>
            <a:ext cx="399098" cy="1414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RESULTS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633907" y="556617"/>
            <a:ext cx="5213747" cy="363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dirty="0">
                <a:solidFill>
                  <a:srgbClr val="1F1E1E"/>
                </a:solidFill>
                <a:latin typeface="Arial Black" panose="020B0A04020102020204" pitchFamily="34" charset="0"/>
                <a:ea typeface="Alexandria Semi Bold" pitchFamily="34" charset="-122"/>
                <a:cs typeface="Alexandria Semi Bold" pitchFamily="34" charset="-120"/>
              </a:rPr>
              <a:t>Performance Comparison &amp; Results</a:t>
            </a:r>
            <a:endParaRPr lang="en-US" sz="2400" dirty="0">
              <a:latin typeface="Arial Black" panose="020B0A040201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633907" y="1086207"/>
            <a:ext cx="7362587" cy="1523762"/>
          </a:xfrm>
          <a:prstGeom prst="roundRect">
            <a:avLst>
              <a:gd name="adj" fmla="val 3048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641527" y="1093827"/>
            <a:ext cx="2449116" cy="1508522"/>
          </a:xfrm>
          <a:prstGeom prst="roundRect">
            <a:avLst>
              <a:gd name="adj" fmla="val 3079"/>
            </a:avLst>
          </a:prstGeom>
          <a:solidFill>
            <a:srgbClr val="D5DC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752017" y="1204317"/>
            <a:ext cx="1455063" cy="1818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dirty="0">
                <a:solidFill>
                  <a:srgbClr val="3B3535"/>
                </a:solidFill>
                <a:latin typeface="Arial Black" panose="020B0A04020102020204" pitchFamily="34" charset="0"/>
                <a:ea typeface="Alexandria Semi Bold" pitchFamily="34" charset="-122"/>
                <a:cs typeface="Alexandria Semi Bold" pitchFamily="34" charset="-120"/>
              </a:rPr>
              <a:t>Raw </a:t>
            </a:r>
            <a:r>
              <a:rPr lang="en-US" sz="1600" dirty="0">
                <a:solidFill>
                  <a:srgbClr val="3B3535"/>
                </a:solidFill>
                <a:latin typeface="Arial Black" panose="020B0A04020102020204" pitchFamily="34" charset="0"/>
                <a:ea typeface="Alexandria Semi Bold" pitchFamily="34" charset="-122"/>
                <a:cs typeface="Alexandria Semi Bold" pitchFamily="34" charset="-120"/>
              </a:rPr>
              <a:t>Data</a:t>
            </a:r>
            <a:endParaRPr lang="en-US" dirty="0">
              <a:latin typeface="Arial Black" panose="020B0A040201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3752017" y="1452443"/>
            <a:ext cx="2228136" cy="1769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350"/>
              </a:lnSpc>
              <a:buSzPct val="100000"/>
              <a:buChar char="•"/>
            </a:pPr>
            <a:r>
              <a:rPr lang="en-US" sz="11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16,598 total games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3752017" y="1668066"/>
            <a:ext cx="2228136" cy="1769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350"/>
              </a:lnSpc>
              <a:buSzPct val="100000"/>
              <a:buChar char="•"/>
            </a:pPr>
            <a:r>
              <a:rPr lang="en-US" sz="11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Missing: 329 records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752017" y="1883688"/>
            <a:ext cx="2228136" cy="1769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350"/>
              </a:lnSpc>
              <a:buSzPct val="100000"/>
              <a:buChar char="•"/>
            </a:pPr>
            <a:r>
              <a:rPr lang="en-US" sz="11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Unscaled features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752017" y="2099310"/>
            <a:ext cx="2228136" cy="1769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350"/>
              </a:lnSpc>
              <a:buSzPct val="100000"/>
              <a:buChar char="•"/>
            </a:pPr>
            <a:r>
              <a:rPr lang="en-US" sz="11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Mixed data types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752017" y="2314932"/>
            <a:ext cx="2228136" cy="1769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350"/>
              </a:lnSpc>
              <a:buSzPct val="100000"/>
              <a:buChar char="•"/>
            </a:pPr>
            <a:r>
              <a:rPr lang="en-US" sz="11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98% complete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090642" y="1093827"/>
            <a:ext cx="2449116" cy="1508522"/>
          </a:xfrm>
          <a:prstGeom prst="rect">
            <a:avLst/>
          </a:prstGeom>
          <a:solidFill>
            <a:srgbClr val="D5DC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090642" y="1093827"/>
            <a:ext cx="15240" cy="1508522"/>
          </a:xfrm>
          <a:prstGeom prst="roundRect">
            <a:avLst>
              <a:gd name="adj" fmla="val 304765"/>
            </a:avLst>
          </a:prstGeom>
          <a:solidFill>
            <a:srgbClr val="BBC2D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201132" y="1204317"/>
            <a:ext cx="1459468" cy="1818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Arial Black" panose="020B0A04020102020204" pitchFamily="34" charset="0"/>
                <a:ea typeface="Alexandria Semi Bold" pitchFamily="34" charset="-122"/>
                <a:cs typeface="Alexandria Semi Bold" pitchFamily="34" charset="-120"/>
              </a:rPr>
              <a:t>After Preprocessing</a:t>
            </a:r>
            <a:endParaRPr lang="en-US" sz="1600" dirty="0">
              <a:latin typeface="Arial Black" panose="020B0A040201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201132" y="1452443"/>
            <a:ext cx="2228136" cy="1769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350"/>
              </a:lnSpc>
              <a:buSzPct val="100000"/>
              <a:buChar char="•"/>
            </a:pPr>
            <a:r>
              <a:rPr lang="en-US" sz="11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16,269 clean games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201132" y="1668066"/>
            <a:ext cx="2228136" cy="1769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350"/>
              </a:lnSpc>
              <a:buSzPct val="100000"/>
              <a:buChar char="•"/>
            </a:pPr>
            <a:r>
              <a:rPr lang="en-US" sz="11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Zero missing values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201132" y="1883688"/>
            <a:ext cx="2228136" cy="1769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350"/>
              </a:lnSpc>
              <a:buSzPct val="100000"/>
              <a:buChar char="•"/>
            </a:pPr>
            <a:r>
              <a:rPr lang="en-US" sz="11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Scaled features (μ=0, σ=1)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201132" y="2099310"/>
            <a:ext cx="2228136" cy="1769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350"/>
              </a:lnSpc>
              <a:buSzPct val="100000"/>
              <a:buChar char="•"/>
            </a:pPr>
            <a:r>
              <a:rPr lang="en-US" sz="11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All numerical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201132" y="2314932"/>
            <a:ext cx="2228136" cy="1769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350"/>
              </a:lnSpc>
              <a:buSzPct val="100000"/>
              <a:buChar char="•"/>
            </a:pPr>
            <a:r>
              <a:rPr lang="en-US" sz="11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100% complete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8539758" y="1093827"/>
            <a:ext cx="2449116" cy="1508522"/>
          </a:xfrm>
          <a:prstGeom prst="rect">
            <a:avLst/>
          </a:prstGeom>
          <a:solidFill>
            <a:srgbClr val="D5DCF6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22" name="Shape 20"/>
          <p:cNvSpPr/>
          <p:nvPr/>
        </p:nvSpPr>
        <p:spPr>
          <a:xfrm>
            <a:off x="8539758" y="1093827"/>
            <a:ext cx="15240" cy="1508522"/>
          </a:xfrm>
          <a:prstGeom prst="roundRect">
            <a:avLst>
              <a:gd name="adj" fmla="val 304765"/>
            </a:avLst>
          </a:prstGeom>
          <a:solidFill>
            <a:srgbClr val="BBC2D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8650248" y="1204317"/>
            <a:ext cx="1455063" cy="1818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Arial Black" panose="020B0A04020102020204" pitchFamily="34" charset="0"/>
                <a:ea typeface="Alexandria Semi Bold" pitchFamily="34" charset="-122"/>
                <a:cs typeface="Alexandria Semi Bold" pitchFamily="34" charset="-120"/>
              </a:rPr>
              <a:t>Model Performance</a:t>
            </a:r>
            <a:endParaRPr lang="en-US" sz="1600" dirty="0">
              <a:latin typeface="Arial Black" panose="020B0A0402010202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8650248" y="1452443"/>
            <a:ext cx="2228136" cy="1769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350"/>
              </a:lnSpc>
              <a:buSzPct val="100000"/>
              <a:buChar char="•"/>
            </a:pPr>
            <a:r>
              <a:rPr lang="en-US" sz="11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R² Score: 0.99999333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8650248" y="1668066"/>
            <a:ext cx="2228136" cy="1769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350"/>
              </a:lnSpc>
              <a:buSzPct val="100000"/>
              <a:buChar char="•"/>
            </a:pPr>
            <a:r>
              <a:rPr lang="en-US" sz="11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MAE: 0.00311573852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8650248" y="1883688"/>
            <a:ext cx="2228136" cy="1769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350"/>
              </a:lnSpc>
              <a:buSzPct val="100000"/>
              <a:buChar char="•"/>
            </a:pPr>
            <a:r>
              <a:rPr lang="en-US" sz="11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RMSE: 0.0053394795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8650248" y="2099310"/>
            <a:ext cx="2228136" cy="1769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350"/>
              </a:lnSpc>
              <a:buSzPct val="100000"/>
              <a:buChar char="•"/>
            </a:pPr>
            <a:r>
              <a:rPr lang="en-US" sz="11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Test games: 3,320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8650248" y="2314932"/>
            <a:ext cx="2228136" cy="1769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350"/>
              </a:lnSpc>
              <a:buSzPct val="100000"/>
              <a:buChar char="•"/>
            </a:pPr>
            <a:r>
              <a:rPr lang="en-US" sz="11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Quality: [Assessment]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3633907" y="2775823"/>
            <a:ext cx="2507456" cy="2182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2000" dirty="0">
                <a:solidFill>
                  <a:srgbClr val="1F1E1E"/>
                </a:solidFill>
                <a:latin typeface="Arial Black" panose="020B0A04020102020204" pitchFamily="34" charset="0"/>
                <a:ea typeface="Alexandria Semi Bold" pitchFamily="34" charset="-122"/>
                <a:cs typeface="Alexandria Semi Bold" pitchFamily="34" charset="-120"/>
              </a:rPr>
              <a:t>Key Transformations Impact</a:t>
            </a:r>
            <a:endParaRPr lang="en-US" sz="2000" dirty="0">
              <a:latin typeface="Arial Black" panose="020B0A04020102020204" pitchFamily="34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3633907" y="3270409"/>
            <a:ext cx="1455063" cy="1818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dirty="0">
                <a:solidFill>
                  <a:srgbClr val="1F1E1E"/>
                </a:solidFill>
                <a:latin typeface="Arial Black" panose="020B0A04020102020204" pitchFamily="34" charset="0"/>
                <a:ea typeface="Alexandria Semi Bold" pitchFamily="34" charset="-122"/>
                <a:cs typeface="Alexandria Semi Bold" pitchFamily="34" charset="-120"/>
              </a:rPr>
              <a:t>Data Quality</a:t>
            </a:r>
            <a:endParaRPr lang="en-US" dirty="0">
              <a:latin typeface="Arial Black" panose="020B0A04020102020204" pitchFamily="34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4078129" y="4295299"/>
            <a:ext cx="1360170" cy="276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24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98%</a:t>
            </a:r>
            <a:endParaRPr lang="en-US" sz="2400" dirty="0"/>
          </a:p>
        </p:txBody>
      </p:sp>
      <p:pic>
        <p:nvPicPr>
          <p:cNvPr id="3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8943" y="3604141"/>
            <a:ext cx="1548169" cy="1548169"/>
          </a:xfrm>
          <a:prstGeom prst="rect">
            <a:avLst/>
          </a:prstGeom>
        </p:spPr>
      </p:pic>
      <p:sp>
        <p:nvSpPr>
          <p:cNvPr id="33" name="Text 30"/>
          <p:cNvSpPr/>
          <p:nvPr/>
        </p:nvSpPr>
        <p:spPr>
          <a:xfrm>
            <a:off x="3633907" y="5401032"/>
            <a:ext cx="2248853" cy="1769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Arial Black" panose="020B0A04020102020204" pitchFamily="34" charset="0"/>
                <a:ea typeface="Sora Light" pitchFamily="34" charset="-122"/>
                <a:cs typeface="Sora Light" pitchFamily="34" charset="-120"/>
              </a:rPr>
              <a:t>Retention rate after cleaning</a:t>
            </a:r>
            <a:endParaRPr lang="en-US" sz="1100" dirty="0">
              <a:latin typeface="Arial Black" panose="020B0A04020102020204" pitchFamily="34" charset="0"/>
            </a:endParaRPr>
          </a:p>
        </p:txBody>
      </p:sp>
      <p:sp>
        <p:nvSpPr>
          <p:cNvPr id="34" name="Text 31"/>
          <p:cNvSpPr/>
          <p:nvPr/>
        </p:nvSpPr>
        <p:spPr>
          <a:xfrm>
            <a:off x="4078129" y="6517838"/>
            <a:ext cx="1360170" cy="276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24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100%</a:t>
            </a:r>
            <a:endParaRPr lang="en-US" sz="2400" dirty="0"/>
          </a:p>
        </p:txBody>
      </p:sp>
      <p:pic>
        <p:nvPicPr>
          <p:cNvPr id="3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8943" y="5826681"/>
            <a:ext cx="1658779" cy="1658779"/>
          </a:xfrm>
          <a:prstGeom prst="rect">
            <a:avLst/>
          </a:prstGeom>
        </p:spPr>
      </p:pic>
      <p:sp>
        <p:nvSpPr>
          <p:cNvPr id="36" name="Text 32"/>
          <p:cNvSpPr/>
          <p:nvPr/>
        </p:nvSpPr>
        <p:spPr>
          <a:xfrm>
            <a:off x="3633907" y="7623572"/>
            <a:ext cx="2248853" cy="1769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Arial Black" panose="020B0A04020102020204" pitchFamily="34" charset="0"/>
                <a:ea typeface="Sora Light" pitchFamily="34" charset="-122"/>
                <a:cs typeface="Sora Light" pitchFamily="34" charset="-120"/>
              </a:rPr>
              <a:t>Complete data post-processing</a:t>
            </a:r>
            <a:endParaRPr lang="en-US" sz="1100" dirty="0">
              <a:latin typeface="Arial Black" panose="020B0A04020102020204" pitchFamily="34" charset="0"/>
            </a:endParaRPr>
          </a:p>
        </p:txBody>
      </p:sp>
      <p:sp>
        <p:nvSpPr>
          <p:cNvPr id="37" name="Text 33"/>
          <p:cNvSpPr/>
          <p:nvPr/>
        </p:nvSpPr>
        <p:spPr>
          <a:xfrm>
            <a:off x="6160175" y="3270409"/>
            <a:ext cx="1503045" cy="1818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dirty="0">
                <a:solidFill>
                  <a:srgbClr val="1F1E1E"/>
                </a:solidFill>
                <a:latin typeface="Arial Black" panose="020B0A04020102020204" pitchFamily="34" charset="0"/>
                <a:ea typeface="Alexandria Semi Bold" pitchFamily="34" charset="-122"/>
                <a:cs typeface="Alexandria Semi Bold" pitchFamily="34" charset="-120"/>
              </a:rPr>
              <a:t>Feature Engineering</a:t>
            </a:r>
            <a:endParaRPr lang="en-US" dirty="0">
              <a:latin typeface="Arial Black" panose="020B0A04020102020204" pitchFamily="34" charset="0"/>
            </a:endParaRPr>
          </a:p>
        </p:txBody>
      </p:sp>
      <p:sp>
        <p:nvSpPr>
          <p:cNvPr id="38" name="Text 34"/>
          <p:cNvSpPr/>
          <p:nvPr/>
        </p:nvSpPr>
        <p:spPr>
          <a:xfrm>
            <a:off x="6160175" y="3562707"/>
            <a:ext cx="2248853" cy="1769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Original:</a:t>
            </a:r>
            <a:r>
              <a:rPr lang="en-US" sz="11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 11 columns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Text 35"/>
          <p:cNvSpPr/>
          <p:nvPr/>
        </p:nvSpPr>
        <p:spPr>
          <a:xfrm>
            <a:off x="6160175" y="3839051"/>
            <a:ext cx="2248853" cy="1769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After Encoding:</a:t>
            </a:r>
            <a:r>
              <a:rPr lang="en-US" sz="11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 ~55 features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Text 36"/>
          <p:cNvSpPr/>
          <p:nvPr/>
        </p:nvSpPr>
        <p:spPr>
          <a:xfrm>
            <a:off x="6160175" y="4115395"/>
            <a:ext cx="2248853" cy="1769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Platform:</a:t>
            </a:r>
            <a:r>
              <a:rPr lang="en-US" sz="11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 31 one-hot columns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Text 37"/>
          <p:cNvSpPr/>
          <p:nvPr/>
        </p:nvSpPr>
        <p:spPr>
          <a:xfrm>
            <a:off x="6160175" y="4391739"/>
            <a:ext cx="2248853" cy="1769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Genre:</a:t>
            </a:r>
            <a:r>
              <a:rPr lang="en-US" sz="11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 12 one-hot columns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Text 38"/>
          <p:cNvSpPr/>
          <p:nvPr/>
        </p:nvSpPr>
        <p:spPr>
          <a:xfrm>
            <a:off x="9036784" y="3262789"/>
            <a:ext cx="1455063" cy="1818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dirty="0">
                <a:solidFill>
                  <a:srgbClr val="1F1E1E"/>
                </a:solidFill>
                <a:latin typeface="Arial Black" panose="020B0A04020102020204" pitchFamily="34" charset="0"/>
                <a:ea typeface="Alexandria Semi Bold" pitchFamily="34" charset="-122"/>
                <a:cs typeface="Alexandria Semi Bold" pitchFamily="34" charset="-120"/>
              </a:rPr>
              <a:t>Model Readiness</a:t>
            </a:r>
            <a:endParaRPr lang="en-US" dirty="0">
              <a:latin typeface="Arial Black" panose="020B0A04020102020204" pitchFamily="34" charset="0"/>
            </a:endParaRPr>
          </a:p>
        </p:txBody>
      </p:sp>
      <p:sp>
        <p:nvSpPr>
          <p:cNvPr id="43" name="Text 39"/>
          <p:cNvSpPr/>
          <p:nvPr/>
        </p:nvSpPr>
        <p:spPr>
          <a:xfrm>
            <a:off x="9036784" y="3562707"/>
            <a:ext cx="2325172" cy="1769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350"/>
              </a:lnSpc>
              <a:buSzPct val="100000"/>
              <a:buChar char="•"/>
            </a:pPr>
            <a:r>
              <a:rPr lang="en-US" sz="11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✓ All features numerical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Text 40"/>
          <p:cNvSpPr/>
          <p:nvPr/>
        </p:nvSpPr>
        <p:spPr>
          <a:xfrm>
            <a:off x="9036784" y="3778329"/>
            <a:ext cx="2325172" cy="1769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350"/>
              </a:lnSpc>
              <a:buSzPct val="100000"/>
              <a:buChar char="•"/>
            </a:pPr>
            <a:r>
              <a:rPr lang="en-US" sz="11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✓ Standardized scaling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Text 41"/>
          <p:cNvSpPr/>
          <p:nvPr/>
        </p:nvSpPr>
        <p:spPr>
          <a:xfrm>
            <a:off x="9036784" y="3993952"/>
            <a:ext cx="2325172" cy="1769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350"/>
              </a:lnSpc>
              <a:buSzPct val="100000"/>
              <a:buChar char="•"/>
            </a:pPr>
            <a:r>
              <a:rPr lang="en-US" sz="11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✓ Zero missing values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Text 42"/>
          <p:cNvSpPr/>
          <p:nvPr/>
        </p:nvSpPr>
        <p:spPr>
          <a:xfrm>
            <a:off x="9036784" y="4209574"/>
            <a:ext cx="2325172" cy="1769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350"/>
              </a:lnSpc>
              <a:buSzPct val="100000"/>
              <a:buChar char="•"/>
            </a:pPr>
            <a:r>
              <a:rPr lang="en-US" sz="11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✓ Train-test split complete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Text 43"/>
          <p:cNvSpPr/>
          <p:nvPr/>
        </p:nvSpPr>
        <p:spPr>
          <a:xfrm>
            <a:off x="9036784" y="4425196"/>
            <a:ext cx="2325172" cy="1769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350"/>
              </a:lnSpc>
              <a:buSzPct val="100000"/>
              <a:buChar char="•"/>
            </a:pPr>
            <a:r>
              <a:rPr lang="en-US" sz="11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✓ Ready for deployment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C343995-C3F6-5E8D-C458-2FDCF44E7B4E}"/>
              </a:ext>
            </a:extLst>
          </p:cNvPr>
          <p:cNvSpPr txBox="1"/>
          <p:nvPr/>
        </p:nvSpPr>
        <p:spPr>
          <a:xfrm>
            <a:off x="12697691" y="7606145"/>
            <a:ext cx="1859973" cy="56102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108127" y="345279"/>
            <a:ext cx="2172928" cy="377637"/>
          </a:xfrm>
          <a:prstGeom prst="roundRect">
            <a:avLst>
              <a:gd name="adj" fmla="val 17899"/>
            </a:avLst>
          </a:prstGeom>
          <a:solidFill>
            <a:srgbClr val="D5DCF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99121" y="475020"/>
            <a:ext cx="86558" cy="8655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376672" y="475020"/>
            <a:ext cx="685086" cy="1385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DEMO RESULTS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2199121" y="1168251"/>
            <a:ext cx="6138267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800" dirty="0">
                <a:solidFill>
                  <a:srgbClr val="1F1E1E"/>
                </a:solidFill>
                <a:latin typeface="Arial Black" panose="020B0A04020102020204" pitchFamily="34" charset="0"/>
                <a:ea typeface="Alexandria Semi Bold" pitchFamily="34" charset="-122"/>
                <a:cs typeface="Alexandria Semi Bold" pitchFamily="34" charset="-120"/>
              </a:rPr>
              <a:t>Live Project Demonstration &amp; Key Findings</a:t>
            </a:r>
            <a:endParaRPr lang="en-US" sz="2800" dirty="0">
              <a:latin typeface="Arial Black" panose="020B0A04020102020204" pitchFamily="34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2953530" y="2028765"/>
            <a:ext cx="2331958" cy="324922"/>
          </a:xfrm>
          <a:prstGeom prst="roundRect">
            <a:avLst>
              <a:gd name="adj" fmla="val 480105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4014787" y="2150566"/>
            <a:ext cx="162401" cy="2031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Arial Black" panose="020B0A04020102020204" pitchFamily="34" charset="0"/>
                <a:ea typeface="Alexandria Semi Bold" pitchFamily="34" charset="-122"/>
                <a:cs typeface="Alexandria Semi Bold" pitchFamily="34" charset="-120"/>
              </a:rPr>
              <a:t>1</a:t>
            </a:r>
            <a:endParaRPr lang="en-US" sz="1600" dirty="0">
              <a:latin typeface="Arial Black" panose="020B0A04020102020204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3061758" y="2461914"/>
            <a:ext cx="1425297" cy="178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dirty="0">
                <a:solidFill>
                  <a:srgbClr val="3B3535"/>
                </a:solidFill>
                <a:latin typeface="Arial Black" panose="020B0A04020102020204" pitchFamily="34" charset="0"/>
                <a:ea typeface="Alexandria Semi Bold" pitchFamily="34" charset="-122"/>
                <a:cs typeface="Alexandria Semi Bold" pitchFamily="34" charset="-120"/>
              </a:rPr>
              <a:t>Dataset Loading</a:t>
            </a:r>
            <a:endParaRPr lang="en-US" dirty="0">
              <a:latin typeface="Arial Black" panose="020B0A04020102020204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3061758" y="2704921"/>
            <a:ext cx="2115503" cy="346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CSV loaded: 16,598 games | Missing: 329 rows | Clean: 16,269 records ready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5393716" y="2028765"/>
            <a:ext cx="2332077" cy="324922"/>
          </a:xfrm>
          <a:prstGeom prst="roundRect">
            <a:avLst>
              <a:gd name="adj" fmla="val 480105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6454437" y="2158186"/>
            <a:ext cx="162401" cy="2031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Arial Black" panose="020B0A04020102020204" pitchFamily="34" charset="0"/>
                <a:ea typeface="Alexandria Semi Bold" pitchFamily="34" charset="-122"/>
                <a:cs typeface="Alexandria Semi Bold" pitchFamily="34" charset="-120"/>
              </a:rPr>
              <a:t>2</a:t>
            </a:r>
            <a:endParaRPr lang="en-US" sz="1600" dirty="0">
              <a:latin typeface="Arial Black" panose="020B0A04020102020204" pitchFamily="34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5501944" y="2461914"/>
            <a:ext cx="1425297" cy="178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dirty="0">
                <a:solidFill>
                  <a:srgbClr val="3B3535"/>
                </a:solidFill>
                <a:latin typeface="Arial Black" panose="020B0A04020102020204" pitchFamily="34" charset="0"/>
                <a:ea typeface="Alexandria Semi Bold" pitchFamily="34" charset="-122"/>
                <a:cs typeface="Alexandria Semi Bold" pitchFamily="34" charset="-120"/>
              </a:rPr>
              <a:t>Preprocessing</a:t>
            </a:r>
            <a:endParaRPr lang="en-US" dirty="0">
              <a:latin typeface="Arial Black" panose="020B0A04020102020204" pitchFamily="34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5501944" y="2704921"/>
            <a:ext cx="2115622" cy="346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Encoding complete (31 platforms, 12 genres) | Features scaled | Split: 80-20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7834021" y="2028765"/>
            <a:ext cx="2331958" cy="324922"/>
          </a:xfrm>
          <a:prstGeom prst="roundRect">
            <a:avLst>
              <a:gd name="adj" fmla="val 480105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8918799" y="2135861"/>
            <a:ext cx="162401" cy="2031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Arial Black" panose="020B0A04020102020204" pitchFamily="34" charset="0"/>
                <a:ea typeface="Alexandria Semi Bold" pitchFamily="34" charset="-122"/>
                <a:cs typeface="Alexandria Semi Bold" pitchFamily="34" charset="-120"/>
              </a:rPr>
              <a:t>3</a:t>
            </a:r>
            <a:endParaRPr lang="en-US" sz="1600" dirty="0">
              <a:latin typeface="Arial Black" panose="020B0A04020102020204" pitchFamily="34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7942249" y="2461914"/>
            <a:ext cx="1516618" cy="178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dirty="0">
                <a:solidFill>
                  <a:srgbClr val="3B3535"/>
                </a:solidFill>
                <a:latin typeface="Arial Black" panose="020B0A04020102020204" pitchFamily="34" charset="0"/>
                <a:ea typeface="Alexandria Semi Bold" pitchFamily="34" charset="-122"/>
                <a:cs typeface="Alexandria Semi Bold" pitchFamily="34" charset="-120"/>
              </a:rPr>
              <a:t>Training &amp; Prediction</a:t>
            </a:r>
            <a:endParaRPr lang="en-US" dirty="0">
              <a:latin typeface="Arial Black" panose="020B0A04020102020204" pitchFamily="34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7942249" y="2704921"/>
            <a:ext cx="2115503" cy="5200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Model trained on 13,278 games | Predictions on 3,320 test games | Coefficients learned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3101459" y="3907432"/>
            <a:ext cx="2889885" cy="2138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2000" dirty="0">
                <a:solidFill>
                  <a:srgbClr val="1F1E1E"/>
                </a:solidFill>
                <a:latin typeface="Arial Black" panose="020B0A04020102020204" pitchFamily="34" charset="0"/>
                <a:ea typeface="Alexandria Semi Bold" pitchFamily="34" charset="-122"/>
                <a:cs typeface="Alexandria Semi Bold" pitchFamily="34" charset="-120"/>
              </a:rPr>
              <a:t>Sample Predictions from Test Set</a:t>
            </a:r>
            <a:endParaRPr lang="en-US" sz="2000" dirty="0">
              <a:latin typeface="Arial Black" panose="020B0A04020102020204" pitchFamily="34" charset="0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3109079" y="4353044"/>
            <a:ext cx="7212568" cy="2098834"/>
          </a:xfrm>
          <a:prstGeom prst="roundRect">
            <a:avLst>
              <a:gd name="adj" fmla="val 2168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7"/>
          <p:cNvSpPr/>
          <p:nvPr/>
        </p:nvSpPr>
        <p:spPr>
          <a:xfrm>
            <a:off x="3116699" y="4360664"/>
            <a:ext cx="7197328" cy="49172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3225284" y="4433173"/>
            <a:ext cx="1579007" cy="173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400" b="1" dirty="0">
                <a:solidFill>
                  <a:srgbClr val="3B3535"/>
                </a:solidFill>
                <a:latin typeface="Arial Black" panose="020B0A04020102020204" pitchFamily="34" charset="0"/>
                <a:ea typeface="Sora Light" pitchFamily="34" charset="-122"/>
                <a:cs typeface="Sora Light" pitchFamily="34" charset="-120"/>
              </a:rPr>
              <a:t>Game</a:t>
            </a:r>
            <a:endParaRPr lang="en-US" sz="1400" dirty="0">
              <a:latin typeface="Arial Black" panose="020B0A04020102020204" pitchFamily="34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5028366" y="4433173"/>
            <a:ext cx="855464" cy="173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400" b="1" dirty="0">
                <a:solidFill>
                  <a:srgbClr val="3B3535"/>
                </a:solidFill>
                <a:latin typeface="Arial Black" panose="020B0A04020102020204" pitchFamily="34" charset="0"/>
                <a:ea typeface="Sora Light" pitchFamily="34" charset="-122"/>
                <a:cs typeface="Sora Light" pitchFamily="34" charset="-120"/>
              </a:rPr>
              <a:t>Platform</a:t>
            </a:r>
            <a:endParaRPr lang="en-US" sz="1400" dirty="0">
              <a:latin typeface="Arial Black" panose="020B0A04020102020204" pitchFamily="34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6107906" y="4433173"/>
            <a:ext cx="855464" cy="173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400" b="1" dirty="0">
                <a:solidFill>
                  <a:srgbClr val="3B3535"/>
                </a:solidFill>
                <a:latin typeface="Arial Black" panose="020B0A04020102020204" pitchFamily="34" charset="0"/>
                <a:ea typeface="Sora Light" pitchFamily="34" charset="-122"/>
                <a:cs typeface="Sora Light" pitchFamily="34" charset="-120"/>
              </a:rPr>
              <a:t>Genre</a:t>
            </a:r>
            <a:endParaRPr lang="en-US" sz="1400" dirty="0">
              <a:latin typeface="Arial Black" panose="020B0A04020102020204" pitchFamily="34" charset="0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7187446" y="4433173"/>
            <a:ext cx="855464" cy="173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400" b="1" dirty="0">
                <a:solidFill>
                  <a:srgbClr val="3B3535"/>
                </a:solidFill>
                <a:latin typeface="Arial Black" panose="020B0A04020102020204" pitchFamily="34" charset="0"/>
                <a:ea typeface="Sora Light" pitchFamily="34" charset="-122"/>
                <a:cs typeface="Sora Light" pitchFamily="34" charset="-120"/>
              </a:rPr>
              <a:t>Actual </a:t>
            </a:r>
          </a:p>
          <a:p>
            <a:pPr marL="0" indent="0" algn="l">
              <a:lnSpc>
                <a:spcPts val="1350"/>
              </a:lnSpc>
              <a:buNone/>
            </a:pPr>
            <a:r>
              <a:rPr lang="en-US" sz="1400" b="1" dirty="0">
                <a:solidFill>
                  <a:srgbClr val="3B3535"/>
                </a:solidFill>
                <a:latin typeface="Arial Black" panose="020B0A04020102020204" pitchFamily="34" charset="0"/>
                <a:ea typeface="Sora Light" pitchFamily="34" charset="-122"/>
                <a:cs typeface="Sora Light" pitchFamily="34" charset="-120"/>
              </a:rPr>
              <a:t>Sales</a:t>
            </a:r>
            <a:endParaRPr lang="en-US" sz="1400" dirty="0">
              <a:latin typeface="Arial Black" panose="020B0A04020102020204" pitchFamily="34" charset="0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8266985" y="4433173"/>
            <a:ext cx="962143" cy="346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400" b="1" dirty="0">
                <a:solidFill>
                  <a:srgbClr val="3B3535"/>
                </a:solidFill>
                <a:latin typeface="Arial Black" panose="020B0A04020102020204" pitchFamily="34" charset="0"/>
                <a:ea typeface="Sora Light" pitchFamily="34" charset="-122"/>
                <a:cs typeface="Sora Light" pitchFamily="34" charset="-120"/>
              </a:rPr>
              <a:t>Predicted Sales</a:t>
            </a:r>
            <a:endParaRPr lang="en-US" sz="1400" dirty="0">
              <a:latin typeface="Arial Black" panose="020B0A04020102020204" pitchFamily="34" charset="0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9346525" y="4433173"/>
            <a:ext cx="859274" cy="173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400" b="1" dirty="0">
                <a:solidFill>
                  <a:srgbClr val="3B3535"/>
                </a:solidFill>
                <a:latin typeface="Arial Black" panose="020B0A04020102020204" pitchFamily="34" charset="0"/>
                <a:ea typeface="Sora Light" pitchFamily="34" charset="-122"/>
                <a:cs typeface="Sora Light" pitchFamily="34" charset="-120"/>
              </a:rPr>
              <a:t>Error</a:t>
            </a:r>
            <a:endParaRPr lang="en-US" sz="1400" dirty="0">
              <a:latin typeface="Arial Black" panose="020B0A04020102020204" pitchFamily="34" charset="0"/>
            </a:endParaRPr>
          </a:p>
        </p:txBody>
      </p:sp>
      <p:sp>
        <p:nvSpPr>
          <p:cNvPr id="27" name="Shape 24"/>
          <p:cNvSpPr/>
          <p:nvPr/>
        </p:nvSpPr>
        <p:spPr>
          <a:xfrm>
            <a:off x="3116699" y="4852392"/>
            <a:ext cx="7197328" cy="31837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5"/>
          <p:cNvSpPr/>
          <p:nvPr/>
        </p:nvSpPr>
        <p:spPr>
          <a:xfrm>
            <a:off x="3225284" y="4924901"/>
            <a:ext cx="1579007" cy="173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Wii Sports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5028366" y="4924901"/>
            <a:ext cx="855464" cy="173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Wii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6107906" y="4924901"/>
            <a:ext cx="855464" cy="173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Sports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7187446" y="4924901"/>
            <a:ext cx="855464" cy="173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82.74M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8266986" y="4924901"/>
            <a:ext cx="855464" cy="173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82.71M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9346525" y="4924901"/>
            <a:ext cx="859274" cy="173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0.03M 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Shape 31"/>
          <p:cNvSpPr/>
          <p:nvPr/>
        </p:nvSpPr>
        <p:spPr>
          <a:xfrm>
            <a:off x="3116699" y="5170765"/>
            <a:ext cx="7197328" cy="31837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2"/>
          <p:cNvSpPr/>
          <p:nvPr/>
        </p:nvSpPr>
        <p:spPr>
          <a:xfrm>
            <a:off x="3225284" y="5243274"/>
            <a:ext cx="1579007" cy="173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Super Mario Bros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Text 33"/>
          <p:cNvSpPr/>
          <p:nvPr/>
        </p:nvSpPr>
        <p:spPr>
          <a:xfrm>
            <a:off x="5028366" y="5243274"/>
            <a:ext cx="855464" cy="173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NES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Text 34"/>
          <p:cNvSpPr/>
          <p:nvPr/>
        </p:nvSpPr>
        <p:spPr>
          <a:xfrm>
            <a:off x="6107906" y="5243274"/>
            <a:ext cx="855464" cy="173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350"/>
              </a:lnSpc>
            </a:pPr>
            <a:r>
              <a:rPr lang="en-IN" dirty="0"/>
              <a:t>Platform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Text 35"/>
          <p:cNvSpPr/>
          <p:nvPr/>
        </p:nvSpPr>
        <p:spPr>
          <a:xfrm>
            <a:off x="7187446" y="5243274"/>
            <a:ext cx="855464" cy="173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40.24M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Text 36"/>
          <p:cNvSpPr/>
          <p:nvPr/>
        </p:nvSpPr>
        <p:spPr>
          <a:xfrm>
            <a:off x="8266986" y="5243274"/>
            <a:ext cx="855464" cy="173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350"/>
              </a:lnSpc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40.31M</a:t>
            </a:r>
          </a:p>
        </p:txBody>
      </p:sp>
      <p:sp>
        <p:nvSpPr>
          <p:cNvPr id="40" name="Text 37"/>
          <p:cNvSpPr/>
          <p:nvPr/>
        </p:nvSpPr>
        <p:spPr>
          <a:xfrm>
            <a:off x="9346525" y="5243274"/>
            <a:ext cx="859274" cy="173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0.07M</a:t>
            </a:r>
          </a:p>
        </p:txBody>
      </p:sp>
      <p:sp>
        <p:nvSpPr>
          <p:cNvPr id="41" name="Shape 38"/>
          <p:cNvSpPr/>
          <p:nvPr/>
        </p:nvSpPr>
        <p:spPr>
          <a:xfrm>
            <a:off x="3116699" y="5489138"/>
            <a:ext cx="7197328" cy="31837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42" name="Text 39"/>
          <p:cNvSpPr/>
          <p:nvPr/>
        </p:nvSpPr>
        <p:spPr>
          <a:xfrm>
            <a:off x="3225284" y="5561647"/>
            <a:ext cx="1579007" cy="173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Mario Kart Wii</a:t>
            </a:r>
          </a:p>
        </p:txBody>
      </p:sp>
      <p:sp>
        <p:nvSpPr>
          <p:cNvPr id="43" name="Text 40"/>
          <p:cNvSpPr/>
          <p:nvPr/>
        </p:nvSpPr>
        <p:spPr>
          <a:xfrm>
            <a:off x="5028366" y="5561647"/>
            <a:ext cx="855464" cy="173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Wii</a:t>
            </a:r>
          </a:p>
        </p:txBody>
      </p:sp>
      <p:sp>
        <p:nvSpPr>
          <p:cNvPr id="44" name="Text 41"/>
          <p:cNvSpPr/>
          <p:nvPr/>
        </p:nvSpPr>
        <p:spPr>
          <a:xfrm>
            <a:off x="6107906" y="5561647"/>
            <a:ext cx="855464" cy="173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Racing</a:t>
            </a:r>
          </a:p>
        </p:txBody>
      </p:sp>
      <p:sp>
        <p:nvSpPr>
          <p:cNvPr id="45" name="Text 42"/>
          <p:cNvSpPr/>
          <p:nvPr/>
        </p:nvSpPr>
        <p:spPr>
          <a:xfrm>
            <a:off x="7187446" y="5561647"/>
            <a:ext cx="855464" cy="173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35.82M</a:t>
            </a:r>
          </a:p>
        </p:txBody>
      </p:sp>
      <p:sp>
        <p:nvSpPr>
          <p:cNvPr id="46" name="Text 43"/>
          <p:cNvSpPr/>
          <p:nvPr/>
        </p:nvSpPr>
        <p:spPr>
          <a:xfrm>
            <a:off x="8266986" y="5561647"/>
            <a:ext cx="855464" cy="173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35.95M</a:t>
            </a:r>
          </a:p>
        </p:txBody>
      </p:sp>
      <p:sp>
        <p:nvSpPr>
          <p:cNvPr id="47" name="Text 44"/>
          <p:cNvSpPr/>
          <p:nvPr/>
        </p:nvSpPr>
        <p:spPr>
          <a:xfrm>
            <a:off x="9346525" y="5561647"/>
            <a:ext cx="859274" cy="173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0.13M</a:t>
            </a:r>
          </a:p>
        </p:txBody>
      </p:sp>
      <p:sp>
        <p:nvSpPr>
          <p:cNvPr id="48" name="Shape 45"/>
          <p:cNvSpPr/>
          <p:nvPr/>
        </p:nvSpPr>
        <p:spPr>
          <a:xfrm>
            <a:off x="3116699" y="5807511"/>
            <a:ext cx="7197328" cy="31837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Text 46"/>
          <p:cNvSpPr/>
          <p:nvPr/>
        </p:nvSpPr>
        <p:spPr>
          <a:xfrm>
            <a:off x="3225284" y="5880020"/>
            <a:ext cx="1579007" cy="173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Wii Sports Resort</a:t>
            </a:r>
          </a:p>
        </p:txBody>
      </p:sp>
      <p:sp>
        <p:nvSpPr>
          <p:cNvPr id="50" name="Text 47"/>
          <p:cNvSpPr/>
          <p:nvPr/>
        </p:nvSpPr>
        <p:spPr>
          <a:xfrm>
            <a:off x="5028366" y="5880020"/>
            <a:ext cx="855464" cy="173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Wii</a:t>
            </a:r>
          </a:p>
        </p:txBody>
      </p:sp>
      <p:sp>
        <p:nvSpPr>
          <p:cNvPr id="51" name="Text 48"/>
          <p:cNvSpPr/>
          <p:nvPr/>
        </p:nvSpPr>
        <p:spPr>
          <a:xfrm>
            <a:off x="6107906" y="5880020"/>
            <a:ext cx="855464" cy="173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Sports</a:t>
            </a:r>
          </a:p>
        </p:txBody>
      </p:sp>
      <p:sp>
        <p:nvSpPr>
          <p:cNvPr id="52" name="Text 49"/>
          <p:cNvSpPr/>
          <p:nvPr/>
        </p:nvSpPr>
        <p:spPr>
          <a:xfrm>
            <a:off x="7187446" y="5880020"/>
            <a:ext cx="855464" cy="173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33.00M</a:t>
            </a:r>
          </a:p>
        </p:txBody>
      </p:sp>
      <p:sp>
        <p:nvSpPr>
          <p:cNvPr id="53" name="Text 50"/>
          <p:cNvSpPr/>
          <p:nvPr/>
        </p:nvSpPr>
        <p:spPr>
          <a:xfrm>
            <a:off x="8266986" y="5880020"/>
            <a:ext cx="855464" cy="173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32.92M</a:t>
            </a:r>
          </a:p>
        </p:txBody>
      </p:sp>
      <p:sp>
        <p:nvSpPr>
          <p:cNvPr id="54" name="Text 51"/>
          <p:cNvSpPr/>
          <p:nvPr/>
        </p:nvSpPr>
        <p:spPr>
          <a:xfrm>
            <a:off x="9346525" y="5880020"/>
            <a:ext cx="859274" cy="173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0.08M</a:t>
            </a:r>
          </a:p>
        </p:txBody>
      </p:sp>
      <p:sp>
        <p:nvSpPr>
          <p:cNvPr id="55" name="Shape 52"/>
          <p:cNvSpPr/>
          <p:nvPr/>
        </p:nvSpPr>
        <p:spPr>
          <a:xfrm>
            <a:off x="3116699" y="6125884"/>
            <a:ext cx="7197328" cy="31837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6" name="Text 53"/>
          <p:cNvSpPr/>
          <p:nvPr/>
        </p:nvSpPr>
        <p:spPr>
          <a:xfrm>
            <a:off x="3225284" y="6198393"/>
            <a:ext cx="1579007" cy="173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Pokemon Red</a:t>
            </a:r>
          </a:p>
        </p:txBody>
      </p:sp>
      <p:sp>
        <p:nvSpPr>
          <p:cNvPr id="57" name="Text 54"/>
          <p:cNvSpPr/>
          <p:nvPr/>
        </p:nvSpPr>
        <p:spPr>
          <a:xfrm>
            <a:off x="5028366" y="6198393"/>
            <a:ext cx="855464" cy="173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GB</a:t>
            </a:r>
          </a:p>
        </p:txBody>
      </p:sp>
      <p:sp>
        <p:nvSpPr>
          <p:cNvPr id="58" name="Text 55"/>
          <p:cNvSpPr/>
          <p:nvPr/>
        </p:nvSpPr>
        <p:spPr>
          <a:xfrm>
            <a:off x="6107906" y="6198393"/>
            <a:ext cx="855464" cy="173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Role-Play</a:t>
            </a:r>
          </a:p>
        </p:txBody>
      </p:sp>
      <p:sp>
        <p:nvSpPr>
          <p:cNvPr id="59" name="Text 56"/>
          <p:cNvSpPr/>
          <p:nvPr/>
        </p:nvSpPr>
        <p:spPr>
          <a:xfrm>
            <a:off x="7187446" y="6198393"/>
            <a:ext cx="855464" cy="173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[31.37M]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" name="Text 57"/>
          <p:cNvSpPr/>
          <p:nvPr/>
        </p:nvSpPr>
        <p:spPr>
          <a:xfrm>
            <a:off x="8266986" y="6198393"/>
            <a:ext cx="855464" cy="173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31.29M</a:t>
            </a:r>
          </a:p>
        </p:txBody>
      </p:sp>
      <p:sp>
        <p:nvSpPr>
          <p:cNvPr id="61" name="Text 58"/>
          <p:cNvSpPr/>
          <p:nvPr/>
        </p:nvSpPr>
        <p:spPr>
          <a:xfrm>
            <a:off x="9346525" y="6198393"/>
            <a:ext cx="859274" cy="173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350"/>
              </a:lnSpc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0.08M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842A0034-AE7B-F5B9-A782-635363B9E6EB}"/>
              </a:ext>
            </a:extLst>
          </p:cNvPr>
          <p:cNvSpPr txBox="1"/>
          <p:nvPr/>
        </p:nvSpPr>
        <p:spPr>
          <a:xfrm>
            <a:off x="12697691" y="7606145"/>
            <a:ext cx="1859973" cy="56102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B94CDFE-9772-2F18-EEF7-CD95DAE4A0C9}"/>
              </a:ext>
            </a:extLst>
          </p:cNvPr>
          <p:cNvSpPr txBox="1"/>
          <p:nvPr/>
        </p:nvSpPr>
        <p:spPr>
          <a:xfrm>
            <a:off x="12697691" y="7606145"/>
            <a:ext cx="1859973" cy="56102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62" name="Text 59"/>
          <p:cNvSpPr/>
          <p:nvPr/>
        </p:nvSpPr>
        <p:spPr>
          <a:xfrm>
            <a:off x="1132003" y="1141464"/>
            <a:ext cx="2053947" cy="2138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2800" dirty="0">
                <a:solidFill>
                  <a:srgbClr val="1F1E1E"/>
                </a:solidFill>
                <a:latin typeface="Arial Black" panose="020B0A04020102020204" pitchFamily="34" charset="0"/>
                <a:ea typeface="Alexandria Semi Bold" pitchFamily="34" charset="-122"/>
                <a:cs typeface="Alexandria Semi Bold" pitchFamily="34" charset="-120"/>
              </a:rPr>
              <a:t>Key Insights Discovered</a:t>
            </a:r>
            <a:endParaRPr lang="en-US" sz="2800" dirty="0">
              <a:latin typeface="Arial Black" panose="020B0A04020102020204" pitchFamily="34" charset="0"/>
            </a:endParaRPr>
          </a:p>
        </p:txBody>
      </p:sp>
      <p:sp>
        <p:nvSpPr>
          <p:cNvPr id="63" name="Shape 60"/>
          <p:cNvSpPr/>
          <p:nvPr/>
        </p:nvSpPr>
        <p:spPr>
          <a:xfrm>
            <a:off x="969722" y="1901484"/>
            <a:ext cx="54054" cy="54054"/>
          </a:xfrm>
          <a:prstGeom prst="roundRect">
            <a:avLst>
              <a:gd name="adj" fmla="val 845821"/>
            </a:avLst>
          </a:prstGeom>
          <a:solidFill>
            <a:srgbClr val="1A2D7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4" name="Text 61"/>
          <p:cNvSpPr/>
          <p:nvPr/>
        </p:nvSpPr>
        <p:spPr>
          <a:xfrm>
            <a:off x="1132004" y="1843977"/>
            <a:ext cx="2576274" cy="178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2400" dirty="0">
                <a:solidFill>
                  <a:srgbClr val="3B3535"/>
                </a:solidFill>
                <a:latin typeface="Arial Black" panose="020B0A04020102020204" pitchFamily="34" charset="0"/>
                <a:ea typeface="Alexandria Semi Bold" pitchFamily="34" charset="-122"/>
                <a:cs typeface="Alexandria Semi Bold" pitchFamily="34" charset="-120"/>
              </a:rPr>
              <a:t>Regional Sales Drive Global Success</a:t>
            </a:r>
            <a:endParaRPr lang="en-US" sz="2400" dirty="0">
              <a:latin typeface="Arial Black" panose="020B0A04020102020204" pitchFamily="34" charset="0"/>
            </a:endParaRPr>
          </a:p>
        </p:txBody>
      </p:sp>
      <p:sp>
        <p:nvSpPr>
          <p:cNvPr id="65" name="Text 62"/>
          <p:cNvSpPr/>
          <p:nvPr/>
        </p:nvSpPr>
        <p:spPr>
          <a:xfrm>
            <a:off x="1132004" y="2130323"/>
            <a:ext cx="5576378" cy="346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NA_Sales and EU_Sales are the strongest predictors, showing high correlation with global performance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6" name="Shape 63"/>
          <p:cNvSpPr/>
          <p:nvPr/>
        </p:nvSpPr>
        <p:spPr>
          <a:xfrm>
            <a:off x="969722" y="2911882"/>
            <a:ext cx="54054" cy="54054"/>
          </a:xfrm>
          <a:prstGeom prst="roundRect">
            <a:avLst>
              <a:gd name="adj" fmla="val 845821"/>
            </a:avLst>
          </a:prstGeom>
          <a:solidFill>
            <a:srgbClr val="1A2D7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7" name="Text 64"/>
          <p:cNvSpPr/>
          <p:nvPr/>
        </p:nvSpPr>
        <p:spPr>
          <a:xfrm>
            <a:off x="1132004" y="2954930"/>
            <a:ext cx="1763078" cy="178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2400" dirty="0">
                <a:solidFill>
                  <a:srgbClr val="3B3535"/>
                </a:solidFill>
                <a:latin typeface="Arial Black" panose="020B0A04020102020204" pitchFamily="34" charset="0"/>
                <a:ea typeface="Alexandria Semi Bold" pitchFamily="34" charset="-122"/>
                <a:cs typeface="Alexandria Semi Bold" pitchFamily="34" charset="-120"/>
              </a:rPr>
              <a:t>Platform &amp; Genre Matter</a:t>
            </a:r>
            <a:endParaRPr lang="en-US" sz="2400" dirty="0">
              <a:latin typeface="Arial Black" panose="020B0A04020102020204" pitchFamily="34" charset="0"/>
            </a:endParaRPr>
          </a:p>
        </p:txBody>
      </p:sp>
      <p:sp>
        <p:nvSpPr>
          <p:cNvPr id="68" name="Text 65"/>
          <p:cNvSpPr/>
          <p:nvPr/>
        </p:nvSpPr>
        <p:spPr>
          <a:xfrm>
            <a:off x="1132003" y="3140721"/>
            <a:ext cx="5445441" cy="346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Certain platforms (Wii, PS2) and genres (Sports, Shooter) significantly influence sales outcomes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9" name="Shape 66"/>
          <p:cNvSpPr/>
          <p:nvPr/>
        </p:nvSpPr>
        <p:spPr>
          <a:xfrm>
            <a:off x="969722" y="4037269"/>
            <a:ext cx="54054" cy="54054"/>
          </a:xfrm>
          <a:prstGeom prst="roundRect">
            <a:avLst>
              <a:gd name="adj" fmla="val 845821"/>
            </a:avLst>
          </a:prstGeom>
          <a:solidFill>
            <a:srgbClr val="1A2D7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0" name="Text 67"/>
          <p:cNvSpPr/>
          <p:nvPr/>
        </p:nvSpPr>
        <p:spPr>
          <a:xfrm>
            <a:off x="1132004" y="3979762"/>
            <a:ext cx="2352318" cy="178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2400" dirty="0">
                <a:solidFill>
                  <a:srgbClr val="3B3535"/>
                </a:solidFill>
                <a:latin typeface="Arial Black" panose="020B0A04020102020204" pitchFamily="34" charset="0"/>
                <a:ea typeface="Alexandria Semi Bold" pitchFamily="34" charset="-122"/>
                <a:cs typeface="Alexandria Semi Bold" pitchFamily="34" charset="-120"/>
              </a:rPr>
              <a:t>Model Achieves Strong Accuracy</a:t>
            </a:r>
            <a:endParaRPr lang="en-US" sz="2400" dirty="0">
              <a:latin typeface="Arial Black" panose="020B0A04020102020204" pitchFamily="34" charset="0"/>
            </a:endParaRPr>
          </a:p>
        </p:txBody>
      </p:sp>
      <p:sp>
        <p:nvSpPr>
          <p:cNvPr id="71" name="Text 68"/>
          <p:cNvSpPr/>
          <p:nvPr/>
        </p:nvSpPr>
        <p:spPr>
          <a:xfrm>
            <a:off x="1132004" y="4175676"/>
            <a:ext cx="5913032" cy="346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R²=99.99% accuracy demonstrates reliable prediction capability for business decisions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2" name="Shape 69"/>
          <p:cNvSpPr/>
          <p:nvPr/>
        </p:nvSpPr>
        <p:spPr>
          <a:xfrm>
            <a:off x="969722" y="4997427"/>
            <a:ext cx="54054" cy="54054"/>
          </a:xfrm>
          <a:prstGeom prst="roundRect">
            <a:avLst>
              <a:gd name="adj" fmla="val 845821"/>
            </a:avLst>
          </a:prstGeom>
          <a:solidFill>
            <a:srgbClr val="1A2D7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3" name="Text 70"/>
          <p:cNvSpPr/>
          <p:nvPr/>
        </p:nvSpPr>
        <p:spPr>
          <a:xfrm>
            <a:off x="1132004" y="5006531"/>
            <a:ext cx="2447330" cy="178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2400" dirty="0">
                <a:solidFill>
                  <a:srgbClr val="3B3535"/>
                </a:solidFill>
                <a:latin typeface="Arial Black" panose="020B0A04020102020204" pitchFamily="34" charset="0"/>
                <a:ea typeface="Alexandria Semi Bold" pitchFamily="34" charset="-122"/>
                <a:cs typeface="Alexandria Semi Bold" pitchFamily="34" charset="-120"/>
              </a:rPr>
              <a:t>Data-Driven Decision Enablement</a:t>
            </a:r>
            <a:endParaRPr lang="en-US" sz="2400" dirty="0">
              <a:latin typeface="Arial Black" panose="020B0A04020102020204" pitchFamily="34" charset="0"/>
            </a:endParaRPr>
          </a:p>
        </p:txBody>
      </p:sp>
      <p:sp>
        <p:nvSpPr>
          <p:cNvPr id="74" name="Text 71"/>
          <p:cNvSpPr/>
          <p:nvPr/>
        </p:nvSpPr>
        <p:spPr>
          <a:xfrm>
            <a:off x="1132003" y="5226715"/>
            <a:ext cx="5777951" cy="346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Publishers can now forecast sales, optimize budgets, and reduce financial risks using predictive insights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5" name="Shape 72"/>
          <p:cNvSpPr/>
          <p:nvPr/>
        </p:nvSpPr>
        <p:spPr>
          <a:xfrm>
            <a:off x="7922019" y="874060"/>
            <a:ext cx="3840490" cy="2078950"/>
          </a:xfrm>
          <a:prstGeom prst="roundRect">
            <a:avLst>
              <a:gd name="adj" fmla="val 2189"/>
            </a:avLst>
          </a:prstGeom>
          <a:solidFill>
            <a:srgbClr val="C0CAF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0247" y="1027294"/>
            <a:ext cx="213717" cy="170974"/>
          </a:xfrm>
          <a:prstGeom prst="rect">
            <a:avLst/>
          </a:prstGeom>
        </p:spPr>
      </p:pic>
      <p:sp>
        <p:nvSpPr>
          <p:cNvPr id="77" name="Text 73"/>
          <p:cNvSpPr/>
          <p:nvPr/>
        </p:nvSpPr>
        <p:spPr>
          <a:xfrm>
            <a:off x="8352192" y="1009315"/>
            <a:ext cx="2984290" cy="4276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dirty="0">
                <a:solidFill>
                  <a:srgbClr val="000000"/>
                </a:solidFill>
                <a:latin typeface="Arial Black" panose="020B0A04020102020204" pitchFamily="34" charset="0"/>
                <a:ea typeface="Alexandria Semi Bold" pitchFamily="34" charset="-122"/>
                <a:cs typeface="Alexandria Semi Bold" pitchFamily="34" charset="-120"/>
              </a:rPr>
              <a:t>Model Performance Summary</a:t>
            </a:r>
            <a:endParaRPr lang="en-US" dirty="0">
              <a:latin typeface="Arial Black" panose="020B0A04020102020204" pitchFamily="34" charset="0"/>
            </a:endParaRPr>
          </a:p>
        </p:txBody>
      </p:sp>
      <p:sp>
        <p:nvSpPr>
          <p:cNvPr id="78" name="Text 74"/>
          <p:cNvSpPr/>
          <p:nvPr/>
        </p:nvSpPr>
        <p:spPr>
          <a:xfrm>
            <a:off x="8352192" y="1545216"/>
            <a:ext cx="2188012" cy="173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350"/>
              </a:lnSpc>
            </a:pP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R² Score:</a:t>
            </a: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 </a:t>
            </a:r>
            <a:r>
              <a:rPr lang="en-US" sz="14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0.99999333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9" name="Text 75"/>
          <p:cNvSpPr/>
          <p:nvPr/>
        </p:nvSpPr>
        <p:spPr>
          <a:xfrm>
            <a:off x="8352192" y="1815964"/>
            <a:ext cx="2188012" cy="173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350"/>
              </a:lnSpc>
            </a:pP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MAE:</a:t>
            </a: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 </a:t>
            </a:r>
            <a:r>
              <a:rPr lang="en-US" sz="14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0.00311573852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0" name="Text 76"/>
          <p:cNvSpPr/>
          <p:nvPr/>
        </p:nvSpPr>
        <p:spPr>
          <a:xfrm>
            <a:off x="8352192" y="2086712"/>
            <a:ext cx="2188012" cy="173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350"/>
              </a:lnSpc>
            </a:pP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RMSE:</a:t>
            </a: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 </a:t>
            </a:r>
            <a:r>
              <a:rPr lang="en-US" sz="14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0.0053394795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1" name="Text 77"/>
          <p:cNvSpPr/>
          <p:nvPr/>
        </p:nvSpPr>
        <p:spPr>
          <a:xfrm>
            <a:off x="8352192" y="2357460"/>
            <a:ext cx="2188012" cy="173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Test Games:</a:t>
            </a: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 3,320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2" name="Text 78"/>
          <p:cNvSpPr/>
          <p:nvPr/>
        </p:nvSpPr>
        <p:spPr>
          <a:xfrm>
            <a:off x="8352192" y="2628208"/>
            <a:ext cx="2188012" cy="173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Classification:</a:t>
            </a: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 Excellent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F563E403-D76E-B2AC-9DD9-26B019E27B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7004" y="3048358"/>
            <a:ext cx="4827951" cy="48279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423908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FDBD7BB-756A-9E90-7172-A53F3CE1C637}"/>
              </a:ext>
            </a:extLst>
          </p:cNvPr>
          <p:cNvSpPr txBox="1"/>
          <p:nvPr/>
        </p:nvSpPr>
        <p:spPr>
          <a:xfrm>
            <a:off x="12697691" y="7606145"/>
            <a:ext cx="1859973" cy="56102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3AFCEF1-F434-0557-760A-84BB9FBC6F7C}"/>
              </a:ext>
            </a:extLst>
          </p:cNvPr>
          <p:cNvSpPr/>
          <p:nvPr/>
        </p:nvSpPr>
        <p:spPr>
          <a:xfrm>
            <a:off x="5653240" y="3653135"/>
            <a:ext cx="332392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Thank you </a:t>
            </a:r>
          </a:p>
        </p:txBody>
      </p:sp>
    </p:spTree>
    <p:extLst>
      <p:ext uri="{BB962C8B-B14F-4D97-AF65-F5344CB8AC3E}">
        <p14:creationId xmlns:p14="http://schemas.microsoft.com/office/powerpoint/2010/main" val="18060373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</TotalTime>
  <Words>1394</Words>
  <Application>Microsoft Office PowerPoint</Application>
  <PresentationFormat>Custom</PresentationFormat>
  <Paragraphs>282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 Black</vt:lpstr>
      <vt:lpstr>Consolas</vt:lpstr>
      <vt:lpstr>Arial</vt:lpstr>
      <vt:lpstr>Alexandria Semi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Sagar Datkhile</dc:creator>
  <cp:lastModifiedBy>Sagar Datkhile</cp:lastModifiedBy>
  <cp:revision>9</cp:revision>
  <dcterms:created xsi:type="dcterms:W3CDTF">2026-01-23T13:14:33Z</dcterms:created>
  <dcterms:modified xsi:type="dcterms:W3CDTF">2026-01-24T02:12:38Z</dcterms:modified>
</cp:coreProperties>
</file>