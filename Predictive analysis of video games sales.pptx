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Alexandria Semi Bold" panose="020B0604020202020204" charset="-78"/>
      <p:regular r:id="rId15"/>
    </p:embeddedFont>
    <p:embeddedFont>
      <p:font typeface="Arial Black" panose="020B0A04020102020204" pitchFamily="34" charset="0"/>
      <p:bold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851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527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709863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Predictive Analysis of Global Video Game Sales Using Regression Models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09" y="551961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Machine Learning Regression Project | January 2026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 Spartans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5899" y="668536"/>
            <a:ext cx="2088183" cy="32956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1031" y="763191"/>
            <a:ext cx="140256" cy="140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1414" y="721043"/>
            <a:ext cx="1473279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PROJECT OVERVIEW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75899" y="1068229"/>
            <a:ext cx="7645956" cy="57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Problem Statement &amp; Objectives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75899" y="2083594"/>
            <a:ext cx="276951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7" name="Text 4"/>
          <p:cNvSpPr/>
          <p:nvPr/>
        </p:nvSpPr>
        <p:spPr>
          <a:xfrm>
            <a:off x="1475899" y="2605088"/>
            <a:ext cx="5625227" cy="168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The global video game industry generates billions annually, yet predicting commercial success remains uncertain. Developers and publishers often rely on intuition rather than data-driven insights, leading to financial risks and inefficient strategies. This project analyzes historical sales data to build regression models that enable informed decision-making.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36656" y="2083594"/>
            <a:ext cx="276951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Objectives</a:t>
            </a:r>
            <a:endParaRPr lang="en-US" sz="2150" dirty="0">
              <a:latin typeface="Arial Black" panose="020B0A04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36656" y="2605088"/>
            <a:ext cx="5625227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Analyze historical video game sales trends across platforms and regions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36656" y="3227427"/>
            <a:ext cx="562522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Identify key factors affecting global game sales performance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36656" y="3569256"/>
            <a:ext cx="562522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Build accurate regression models to predict sales values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36656" y="3911084"/>
            <a:ext cx="5625227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Visualize insights for strategic business understanding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475899" y="4730867"/>
            <a:ext cx="11678483" cy="29528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5899" y="4979551"/>
            <a:ext cx="175379" cy="17537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475899" y="523279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1475899" y="5366147"/>
            <a:ext cx="230790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Sagar Datkhile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475899" y="5759648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 Preprocessing, Model Development, Presentation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2830" y="4979551"/>
            <a:ext cx="175379" cy="17537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02830" y="523279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7402830" y="5366147"/>
            <a:ext cx="230790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Ashutosh Kinage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7402830" y="5759648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 Collection &amp; Analysis, Presentation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5899" y="6368891"/>
            <a:ext cx="175379" cy="175379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475899" y="662213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1475899" y="6755487"/>
            <a:ext cx="2428042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Harshwardhan Ahire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475899" y="7148989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Feature Engineering &amp; Model Optimization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02830" y="6368891"/>
            <a:ext cx="175379" cy="175379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402830" y="6622137"/>
            <a:ext cx="5751552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7402830" y="6755487"/>
            <a:ext cx="230790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Aniket Mahajan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7402830" y="7148989"/>
            <a:ext cx="57515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Testing, Evaluation &amp; Visualization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B3E3E3-5EAB-7C2B-4735-6B4816B8D7B3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3483" y="428030"/>
            <a:ext cx="1150826" cy="368498"/>
          </a:xfrm>
          <a:prstGeom prst="roundRect">
            <a:avLst>
              <a:gd name="adj" fmla="val 16993"/>
            </a:avLst>
          </a:prstGeom>
          <a:noFill/>
          <a:ln w="7620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4091" y="519351"/>
            <a:ext cx="123944" cy="123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948" y="482084"/>
            <a:ext cx="574477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00" dirty="0">
                <a:solidFill>
                  <a:srgbClr val="1A2D7A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DATASET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53483" y="796528"/>
            <a:ext cx="7692747" cy="509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 Overview &amp; Dataset Information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53483" y="1694021"/>
            <a:ext cx="2448163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 Source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153483" y="2155031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Source: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Kaggle Dataset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153483" y="2457212"/>
            <a:ext cx="3902393" cy="33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Dataset: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Video Game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153483" y="2753559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Format: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CSV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153483" y="3080504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Total Records: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16,598 games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153483" y="3372029"/>
            <a:ext cx="39023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Time Period: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1980-2020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153483" y="4034195"/>
            <a:ext cx="3902393" cy="1154787"/>
          </a:xfrm>
          <a:prstGeom prst="roundRect">
            <a:avLst>
              <a:gd name="adj" fmla="val 5639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503" y="4267438"/>
            <a:ext cx="193715" cy="1550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7237" y="4227909"/>
            <a:ext cx="3243620" cy="74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Four decades of comprehensive gaming industry data across 31 platforms and 12 genres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41638" y="1694021"/>
            <a:ext cx="387346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Dataset Attributes (11 Columns)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441638" y="2174438"/>
            <a:ext cx="6042779" cy="5452705"/>
          </a:xfrm>
          <a:prstGeom prst="roundRect">
            <a:avLst>
              <a:gd name="adj" fmla="val 11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49258" y="2182058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604397" y="2282666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Rank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416409" y="2282666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Game ranking by sales performance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449258" y="2631281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604397" y="2731889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Name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416409" y="2731889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Official game title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449258" y="3080504"/>
            <a:ext cx="6027539" cy="6972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604397" y="3181112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8416409" y="3181112"/>
            <a:ext cx="3905369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Gaming platform (31 unique: Wii, DS, PS3, Xbox, etc.)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449258" y="3777734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604397" y="3878342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Year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416409" y="3878342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Release year (1980-2020)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449258" y="4226957"/>
            <a:ext cx="6027539" cy="5966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6604397" y="4327565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416409" y="4327565"/>
            <a:ext cx="3905369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Game category (12 types: Sports, Racing, Shooter, etc.)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6449258" y="4924187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604397" y="5024795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Publisher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416409" y="5024795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Publishing company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449258" y="5373410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6604397" y="5474018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NA_Sales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8416409" y="5474018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North American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6449258" y="5822633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6604397" y="5923240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EU_Sales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8416409" y="5923240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European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6449258" y="6271855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6604397" y="6372463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JP_Sales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8416409" y="6372463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Japanese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6449258" y="6721078"/>
            <a:ext cx="6027539" cy="4492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6604397" y="6821686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Other_Sales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8416409" y="6821686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Other regions sales (millions of units)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6449258" y="7170301"/>
            <a:ext cx="6027539" cy="4492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6604397" y="7270909"/>
            <a:ext cx="14943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Global_Sales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8416409" y="7270909"/>
            <a:ext cx="39053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Target variable: Total worldwide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9E3322-A99F-BAAC-F6D9-771A5363A187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73379" y="890112"/>
            <a:ext cx="1166012" cy="254198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364224" y="935474"/>
            <a:ext cx="711041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STATISTICS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73379" y="1235154"/>
            <a:ext cx="8792170" cy="49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Descriptive Statistics &amp; Data Characteristics</a:t>
            </a:r>
            <a:endParaRPr lang="en-US" sz="3100" dirty="0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73379" y="2036088"/>
            <a:ext cx="2378869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16,598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66380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Total Games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73379" y="3065026"/>
            <a:ext cx="237886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Complete dataset records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1557" y="2036088"/>
            <a:ext cx="2378869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40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34558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Years Analyzed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1557" y="3065026"/>
            <a:ext cx="237886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1980-2020 gaming era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09736" y="2036088"/>
            <a:ext cx="2378869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82.74M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02736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Highest Sales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09736" y="3065026"/>
            <a:ext cx="237886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Wii Sports (outlier)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77914" y="2036088"/>
            <a:ext cx="2378988" cy="499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0.537M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71033" y="2725102"/>
            <a:ext cx="199274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Mean Sales</a:t>
            </a:r>
            <a:endParaRPr lang="en-US" sz="155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77914" y="3065026"/>
            <a:ext cx="237898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Average global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73379" y="3629144"/>
            <a:ext cx="300168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Global Sales Distribution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73379" y="4079438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0.537 million units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73379" y="4374713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Median: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0.170 million units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73379" y="4669988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Standard Deviation: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1.555 million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73379" y="4965263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0.01M | </a:t>
            </a: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Max: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82.74M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273379" y="5260538"/>
            <a:ext cx="4857036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Distribution:</a:t>
            </a: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Highly right-skewed with long tail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73379" y="5639038"/>
            <a:ext cx="4857036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Most games cluster in 0.01-1.0M range while few blockbusters exceed 10M sales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07367" y="3629144"/>
            <a:ext cx="322087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Regional Sales Breakdown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07367" y="4098369"/>
            <a:ext cx="4857036" cy="2014418"/>
          </a:xfrm>
          <a:prstGeom prst="roundRect">
            <a:avLst>
              <a:gd name="adj" fmla="val 315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514987" y="4105989"/>
            <a:ext cx="4841796" cy="439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666434" y="4204454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North America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91142" y="4204454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0.265M | Std: 0.817M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514987" y="4545211"/>
            <a:ext cx="4841796" cy="439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66434" y="4643676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Europe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91142" y="4643676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0.147M | Std: 0.505M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514987" y="4984432"/>
            <a:ext cx="4841796" cy="439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666434" y="5082897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Japan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091142" y="5082897"/>
            <a:ext cx="2114193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0.078M | Std: 0.309M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514987" y="5665946"/>
            <a:ext cx="4841796" cy="439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666434" y="5764411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Other Regions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091142" y="5764411"/>
            <a:ext cx="211419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Mean: 0.048M | Std: 0.189M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507367" y="6283166"/>
            <a:ext cx="4857036" cy="885825"/>
          </a:xfrm>
          <a:prstGeom prst="roundRect">
            <a:avLst>
              <a:gd name="adj" fmla="val 7181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14" y="6507599"/>
            <a:ext cx="189309" cy="1514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999571" y="6472476"/>
            <a:ext cx="4213384" cy="48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Missing Values: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Year (271 records, 1.63%) | Publisher (58 records, 0.35%) | Total to remove: 329 rows (~2%)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5D360A-C6E8-F370-597E-3B30B4BBCBD8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264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5716" y="1284803"/>
            <a:ext cx="493633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Selection: Why Regression?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5716" y="1803440"/>
            <a:ext cx="5305187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600" dirty="0">
                <a:solidFill>
                  <a:srgbClr val="84C1FA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Multiple Linear Regression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65716" y="2457569"/>
            <a:ext cx="7212568" cy="718423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081564" y="2573417"/>
            <a:ext cx="1974532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Predicts Continuous Values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81564" y="2816423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Global Sales measured in millions of units require continuous numerical predictions, not categorical </a:t>
            </a:r>
          </a:p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classifications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65716" y="3241893"/>
            <a:ext cx="7212568" cy="648057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81564" y="3329702"/>
            <a:ext cx="2004774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Interpretable &amp; Transparent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81564" y="3572708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Easily explain how each feature affects sales through coefficient analysis and visualization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65716" y="3970139"/>
            <a:ext cx="7212568" cy="648057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81564" y="4085987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Efficient for Trends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81564" y="4328993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Suitable for historical pattern analysis and business forecasting problems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5716" y="4726424"/>
            <a:ext cx="7212568" cy="648057"/>
          </a:xfrm>
          <a:prstGeom prst="roundRect">
            <a:avLst>
              <a:gd name="adj" fmla="val 70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081564" y="4842272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Fast Deployment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81564" y="5085278"/>
            <a:ext cx="698087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Quick training and prediction for real-time business decisions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65716" y="5604510"/>
            <a:ext cx="2112764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Why NOT Other Models?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65716" y="5926574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Classification: Sales are continuous, not categorical bins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65716" y="6137791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Neural Networks: Excessive complexity, less interpretable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65716" y="6349008"/>
            <a:ext cx="3474125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Random Forest: Good accuracy but opaque for business insights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65716" y="6733580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Time Series: Temporal aspect exists but not primary focus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340798" y="5601631"/>
            <a:ext cx="1899404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Practical Applications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40798" y="5923695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Forecast sales before game launch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340798" y="6134912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Identify key success drivers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340798" y="6346129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Guide budget allocation decisions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340798" y="6557346"/>
            <a:ext cx="347412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Optimize marketing strategies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5400" y="755809"/>
            <a:ext cx="1429822" cy="355044"/>
          </a:xfrm>
          <a:prstGeom prst="roundRect">
            <a:avLst>
              <a:gd name="adj" fmla="val 17113"/>
            </a:avLst>
          </a:prstGeom>
          <a:noFill/>
          <a:ln w="7620">
            <a:solidFill>
              <a:srgbClr val="1A2D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411486" y="817602"/>
            <a:ext cx="11976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1A2D7A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METHODOLOGY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95400" y="1183124"/>
            <a:ext cx="8395573" cy="59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Linear Regression Model Workflow</a:t>
            </a:r>
            <a:endParaRPr lang="en-US" sz="3700" dirty="0">
              <a:latin typeface="Arial Black" panose="020B0A04020102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049185"/>
            <a:ext cx="904042" cy="1084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80178" y="2229922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Input Features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380178" y="2635687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Platform, Genre, Year, NA_Sales, EU_Sales, JP_Sales, Other_Sales from 16,598 game records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134082"/>
            <a:ext cx="904042" cy="10848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80178" y="3314819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Feature Processing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380178" y="3720584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One-hot encoding for categorical variables (Platform, Genre) and StandardScaler normalization for numerical features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4218980"/>
            <a:ext cx="904042" cy="10848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80178" y="4399717"/>
            <a:ext cx="271105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Algorithm Application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380178" y="4805482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Fit linear equation using Ordinary Least Squares to minimize prediction error and calculate optimal coefficients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5303877"/>
            <a:ext cx="904042" cy="10848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380178" y="5484614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Learning Phase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2380178" y="5890379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Model analyzes 13,278 training samples, adjusts weights to minimize MSE, and discovers feature relationships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6388775"/>
            <a:ext cx="904042" cy="10848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380178" y="6569512"/>
            <a:ext cx="2379345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Output Predictions</a:t>
            </a:r>
            <a:endParaRPr lang="en-US" sz="1850" dirty="0">
              <a:latin typeface="Arial Black" panose="020B0A04020102020204" pitchFamily="34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2380178" y="6975277"/>
            <a:ext cx="1095470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Generate predicted Global_Sales values for 3,320 unseen test games and compare accuracy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32262F-824C-74E0-50AB-B4855F5F7DBD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3703" y="418862"/>
            <a:ext cx="1571625" cy="246221"/>
          </a:xfrm>
          <a:prstGeom prst="roundRect">
            <a:avLst>
              <a:gd name="adj" fmla="val 17879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2284" y="489585"/>
            <a:ext cx="104775" cy="10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446" y="458153"/>
            <a:ext cx="86153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REPROCESSING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953703" y="717471"/>
            <a:ext cx="5134213" cy="431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Data Transformation Pipeline</a:t>
            </a:r>
            <a:endParaRPr lang="en-US" sz="270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307461" y="1344930"/>
            <a:ext cx="15240" cy="6465689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789956" y="1484590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167741" y="1344930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211616" y="1362968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25328" y="1389936"/>
            <a:ext cx="2134791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Handling Missing Values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953703" y="1684020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Identified: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271 missing Year values (1.63%), 58 missing Publisher values (0.35%)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953703" y="2181701"/>
            <a:ext cx="37064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Row removal for records with missing data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953703" y="2469832"/>
            <a:ext cx="37064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16,269 clean records (98.02% retention)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447181" y="2270522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167741" y="2130862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211616" y="2148900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70044" y="2175867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Data Exploration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970044" y="2469952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Analysis: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Examined 16,598 records to understand feature distributions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70044" y="2967633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Findings: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Identified outliers (Wii Sports: 82.74M), confirmed regional-global sales correlations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970044" y="3465314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Categorical Features: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31 platforms, 12 genres documented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789956" y="3278267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167741" y="3138607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211616" y="3156645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36331" y="3183612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Outlier Detection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953703" y="3477697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IQR method identified high-performing games (&gt;10M sales)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953703" y="3975378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Decision: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Retained outliers as valid blockbuster phenomena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953703" y="4473059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Rationale: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These represent real market events worth modeling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7447181" y="4286012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7167741" y="4146352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211616" y="4164390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970044" y="4191357"/>
            <a:ext cx="1869043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Categorical Encoding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970044" y="4485442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 Encoding: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One-hot encoding for 31 unique values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970044" y="4983123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Genre Encoding: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One-hot encoding for 12 unique categories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970044" y="5480804"/>
            <a:ext cx="37065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43 additional numerical feature columns created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789956" y="5293757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7167741" y="5154097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211616" y="5172135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936331" y="5199102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Feature Scaling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953703" y="5493187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StandardScaler applied to all numerical features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2953703" y="5990868"/>
            <a:ext cx="37064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Transformation: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(X - mean) / standard_deviation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953703" y="6278999"/>
            <a:ext cx="37064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Features normalized to mean=0, std=1 for equal contribution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7447181" y="6196727"/>
            <a:ext cx="393025" cy="15240"/>
          </a:xfrm>
          <a:prstGeom prst="roundRect">
            <a:avLst>
              <a:gd name="adj" fmla="val 361069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7167741" y="6057067"/>
            <a:ext cx="294680" cy="294680"/>
          </a:xfrm>
          <a:prstGeom prst="roundRect">
            <a:avLst>
              <a:gd name="adj" fmla="val 18673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211616" y="6075105"/>
            <a:ext cx="20681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Alexandria Semi Bold" pitchFamily="34" charset="-122"/>
                <a:cs typeface="Arial" panose="020B0604020202020204" pitchFamily="34" charset="0"/>
              </a:rPr>
              <a:t>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970044" y="6102072"/>
            <a:ext cx="172378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anose="020B0604020202020204" charset="-78"/>
              </a:rPr>
              <a:t>Train-Test Split</a:t>
            </a:r>
            <a:endParaRPr lang="en-US" sz="1350" dirty="0">
              <a:latin typeface="Arial Black" panose="020B0A04020102020204" pitchFamily="34" charset="0"/>
              <a:cs typeface="Alexandria Semi Bold" panose="020B0604020202020204" charset="-7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970044" y="6396157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Split Ratio: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80% Training (13,278 games), 20% Testing (3,320 games)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970044" y="6893838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Method: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Random split ensures representative distribution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970044" y="7391519"/>
            <a:ext cx="37065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Quality Control:</a:t>
            </a: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Scaling fitted only on training data to prevent leakage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EFC89C-9D9E-99BA-4391-FD4E7C956D2F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0152" y="540782"/>
            <a:ext cx="7464743" cy="508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Training &amp; Evaluation Process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170152" y="1435537"/>
            <a:ext cx="313884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Training &amp; Testing Phases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70152" y="1914406"/>
            <a:ext cx="15454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Alexandria Light" pitchFamily="34" charset="-122"/>
                <a:cs typeface="Arial" panose="020B0604020202020204" pitchFamily="34" charset="0"/>
              </a:rPr>
              <a:t>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170152" y="2154079"/>
            <a:ext cx="49564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170152" y="2277070"/>
            <a:ext cx="203358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Training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70152" y="2685812"/>
            <a:ext cx="495645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13,278 game records with preprocessed features. Multiple Linear Regression learns optimal coefficients using OLS method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70152" y="3450550"/>
            <a:ext cx="15454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Alexandria Light" pitchFamily="34" charset="-122"/>
                <a:cs typeface="Arial" panose="020B0604020202020204" pitchFamily="34" charset="0"/>
              </a:rPr>
              <a:t>02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170152" y="3690223"/>
            <a:ext cx="49564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70152" y="3813215"/>
            <a:ext cx="203358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Testing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70152" y="4221956"/>
            <a:ext cx="495645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3,320 unseen game records. Apply trained model to generate Global_Sales predictions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70152" y="4986695"/>
            <a:ext cx="154543" cy="193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Alexandria Light" pitchFamily="34" charset="-122"/>
                <a:cs typeface="Arial" panose="020B0604020202020204" pitchFamily="34" charset="0"/>
              </a:rPr>
              <a:t>03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70152" y="5226368"/>
            <a:ext cx="4956453" cy="22860"/>
          </a:xfrm>
          <a:prstGeom prst="rect">
            <a:avLst/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70152" y="5349359"/>
            <a:ext cx="2486263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Performance Evaluation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70152" y="5758101"/>
            <a:ext cx="4956453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Calculate prediction errors and accuracy metrics to assess generalization ability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11177" y="1435537"/>
            <a:ext cx="244030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Evaluation Metrics</a:t>
            </a:r>
            <a:endParaRPr lang="en-US" sz="1900" dirty="0">
              <a:latin typeface="Arial Black" panose="020B0A040201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11177" y="1914406"/>
            <a:ext cx="4956453" cy="1404580"/>
          </a:xfrm>
          <a:prstGeom prst="roundRect">
            <a:avLst>
              <a:gd name="adj" fmla="val 781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488317" y="1914406"/>
            <a:ext cx="91440" cy="1404580"/>
          </a:xfrm>
          <a:prstGeom prst="roundRect">
            <a:avLst>
              <a:gd name="adj" fmla="val 70990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57160" y="2091809"/>
            <a:ext cx="27966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MAE (Mean Absolute Error)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57160" y="2500551"/>
            <a:ext cx="453306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Average prediction error in millions of units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57160" y="2886789"/>
            <a:ext cx="45330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of |predicted - actual|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11177" y="3473529"/>
            <a:ext cx="4956453" cy="1404580"/>
          </a:xfrm>
          <a:prstGeom prst="roundRect">
            <a:avLst>
              <a:gd name="adj" fmla="val 781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88317" y="3473529"/>
            <a:ext cx="91440" cy="1404580"/>
          </a:xfrm>
          <a:prstGeom prst="roundRect">
            <a:avLst>
              <a:gd name="adj" fmla="val 70990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757160" y="3650933"/>
            <a:ext cx="3405783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RMSE (Root Mean Squared Error)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57160" y="4059674"/>
            <a:ext cx="453306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Typical prediction deviation in millions of units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57160" y="4445913"/>
            <a:ext cx="45330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√(Average of (predicted - actual)²)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11177" y="5032653"/>
            <a:ext cx="4956453" cy="1404580"/>
          </a:xfrm>
          <a:prstGeom prst="roundRect">
            <a:avLst>
              <a:gd name="adj" fmla="val 781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88317" y="5032653"/>
            <a:ext cx="91440" cy="1404580"/>
          </a:xfrm>
          <a:prstGeom prst="roundRect">
            <a:avLst>
              <a:gd name="adj" fmla="val 70990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57160" y="5210056"/>
            <a:ext cx="399549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R² Score (Coefficient of Determination)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757160" y="5618798"/>
            <a:ext cx="4533067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Percentage of variance explained by model (0-1 scale)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57160" y="6005036"/>
            <a:ext cx="4533067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1 - (SS_residual / SS_total)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70152" y="6784896"/>
            <a:ext cx="10289977" cy="903803"/>
          </a:xfrm>
          <a:prstGeom prst="roundRect">
            <a:avLst>
              <a:gd name="adj" fmla="val 7182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695" y="7018020"/>
            <a:ext cx="193119" cy="15454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2672358" y="6978015"/>
            <a:ext cx="9633228" cy="49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Key Note: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Model evaluation focuses on test set performance to ensure unbiased accuracy assessment. Test data was never seen during training, providing realistic performance expectations for deployment.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F1688D-CB67-2265-A0B5-4E0AB9CF586A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07" y="304800"/>
            <a:ext cx="927702" cy="174545"/>
          </a:xfrm>
          <a:prstGeom prst="roundRect">
            <a:avLst>
              <a:gd name="adj" fmla="val 17894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700224" y="337899"/>
            <a:ext cx="399098" cy="14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RESULTS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33907" y="556617"/>
            <a:ext cx="5213747" cy="36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Performance Comparison &amp; Results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33907" y="1086207"/>
            <a:ext cx="7362587" cy="1523762"/>
          </a:xfrm>
          <a:prstGeom prst="roundRect">
            <a:avLst>
              <a:gd name="adj" fmla="val 304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41527" y="1093827"/>
            <a:ext cx="2449116" cy="1508522"/>
          </a:xfrm>
          <a:prstGeom prst="roundRect">
            <a:avLst>
              <a:gd name="adj" fmla="val 3079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52017" y="1204317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Raw </a:t>
            </a: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752017" y="1452443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16,598 total games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752017" y="1668066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Missing: 329 records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52017" y="1883688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Unscaled features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52017" y="2099310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Mixed data types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52017" y="2314932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98% complete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0642" y="1093827"/>
            <a:ext cx="2449116" cy="1508522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90642" y="1093827"/>
            <a:ext cx="15240" cy="1508522"/>
          </a:xfrm>
          <a:prstGeom prst="roundRect">
            <a:avLst>
              <a:gd name="adj" fmla="val 304765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01132" y="1204317"/>
            <a:ext cx="1459468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After Preprocessing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01132" y="1452443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16,269 clean games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01132" y="1668066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Zero missing values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01132" y="1883688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Scaled features (μ=0, σ=1)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01132" y="2099310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All numerical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01132" y="2314932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100% complete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39758" y="1093827"/>
            <a:ext cx="2449116" cy="1508522"/>
          </a:xfrm>
          <a:prstGeom prst="rect">
            <a:avLst/>
          </a:prstGeom>
          <a:solidFill>
            <a:srgbClr val="D5DC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8539758" y="1093827"/>
            <a:ext cx="15240" cy="1508522"/>
          </a:xfrm>
          <a:prstGeom prst="roundRect">
            <a:avLst>
              <a:gd name="adj" fmla="val 304765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50248" y="1204317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Performance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50248" y="1452443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R² Score: 0.99999333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50248" y="1668066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MAE: 0.00311573852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50248" y="1883688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RMSE: 0.0053394795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50248" y="2099310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Test games: 3,320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50248" y="2314932"/>
            <a:ext cx="2228136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Quality: [Assessment]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33907" y="2775823"/>
            <a:ext cx="2507456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Key Transformations Impact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33907" y="3270409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 Quality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78129" y="4295299"/>
            <a:ext cx="136017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98%</a:t>
            </a:r>
            <a:endParaRPr lang="en-US" sz="24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943" y="3604141"/>
            <a:ext cx="1548169" cy="1548169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3633907" y="5401032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Retention rate after cleaning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078129" y="6517838"/>
            <a:ext cx="1360170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100%</a:t>
            </a:r>
            <a:endParaRPr lang="en-US" sz="24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943" y="5826681"/>
            <a:ext cx="1658779" cy="1658779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633907" y="7623572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Complete data post-processing</a:t>
            </a:r>
            <a:endParaRPr lang="en-US" sz="1100" dirty="0">
              <a:latin typeface="Arial Black" panose="020B0A04020102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6160175" y="3270409"/>
            <a:ext cx="1503045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Feature Engineering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6160175" y="3562707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Original: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11 columns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160175" y="3839051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After Encoding: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~55 features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6160175" y="4115395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Platform: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31 one-hot columns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6160175" y="4391739"/>
            <a:ext cx="224885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Genre:</a:t>
            </a: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12 one-hot columns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9036784" y="3262789"/>
            <a:ext cx="1455063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Readiness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9036784" y="3562707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All features numerical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9036784" y="3778329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Standardized scaling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9036784" y="3993952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Zero missing values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9036784" y="4209574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Train-test split complete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9036784" y="4425196"/>
            <a:ext cx="2325172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1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✓ Ready for deployment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343995-C3F6-5E8D-C458-2FDCF44E7B4E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8127" y="345279"/>
            <a:ext cx="2172928" cy="377637"/>
          </a:xfrm>
          <a:prstGeom prst="roundRect">
            <a:avLst>
              <a:gd name="adj" fmla="val 17899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9121" y="475020"/>
            <a:ext cx="86558" cy="86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6672" y="475020"/>
            <a:ext cx="685086" cy="138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DEMO RESULTS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99121" y="1168251"/>
            <a:ext cx="61382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Live Project Demonstration &amp; Key Findings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953530" y="2028765"/>
            <a:ext cx="2331958" cy="324922"/>
          </a:xfrm>
          <a:prstGeom prst="roundRect">
            <a:avLst>
              <a:gd name="adj" fmla="val 48010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014787" y="2150566"/>
            <a:ext cx="162401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61758" y="2461914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Dataset Loading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61758" y="2704921"/>
            <a:ext cx="2115503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CSV loaded: 16,598 games | Missing: 329 rows | Clean: 16,269 records ready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93716" y="2028765"/>
            <a:ext cx="2332077" cy="324922"/>
          </a:xfrm>
          <a:prstGeom prst="roundRect">
            <a:avLst>
              <a:gd name="adj" fmla="val 48010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54437" y="2158186"/>
            <a:ext cx="162401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01944" y="2461914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Preprocessing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01944" y="2704921"/>
            <a:ext cx="2115622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Encoding complete (31 platforms, 12 genres) | Features scaled | Split: 80-20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834021" y="2028765"/>
            <a:ext cx="2331958" cy="324922"/>
          </a:xfrm>
          <a:prstGeom prst="roundRect">
            <a:avLst>
              <a:gd name="adj" fmla="val 48010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918799" y="2135861"/>
            <a:ext cx="162401" cy="203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42249" y="2461914"/>
            <a:ext cx="1516618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Training &amp; Prediction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42249" y="2704921"/>
            <a:ext cx="2115503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Model trained on 13,278 games | Predictions on 3,320 test games | Coefficients learned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101459" y="3907432"/>
            <a:ext cx="288988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Sample Predictions from Test Set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109079" y="4353044"/>
            <a:ext cx="7212568" cy="2098834"/>
          </a:xfrm>
          <a:prstGeom prst="roundRect">
            <a:avLst>
              <a:gd name="adj" fmla="val 216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116699" y="4360664"/>
            <a:ext cx="7197328" cy="4917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225284" y="4433173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Game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8366" y="443317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Platform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07906" y="443317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Genre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87446" y="443317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Actual </a:t>
            </a:r>
          </a:p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Sales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66985" y="4433173"/>
            <a:ext cx="962143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Predicted Sales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346525" y="4433173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Arial Black" panose="020B0A04020102020204" pitchFamily="34" charset="0"/>
                <a:ea typeface="Sora Light" pitchFamily="34" charset="-122"/>
                <a:cs typeface="Sora Light" pitchFamily="34" charset="-120"/>
              </a:rPr>
              <a:t>Error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116699" y="4852392"/>
            <a:ext cx="7197328" cy="3183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225284" y="4924901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Wii Sports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02836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Wii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0790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Sports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18744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82.74M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66986" y="4924901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82.71M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9346525" y="4924901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0.03M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116699" y="5170765"/>
            <a:ext cx="7197328" cy="3183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3225284" y="5243274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Super Mario Bros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02836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10790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IN" dirty="0"/>
              <a:t>Platform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18744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40.24M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266986" y="5243274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40.31M</a:t>
            </a:r>
          </a:p>
        </p:txBody>
      </p:sp>
      <p:sp>
        <p:nvSpPr>
          <p:cNvPr id="40" name="Text 37"/>
          <p:cNvSpPr/>
          <p:nvPr/>
        </p:nvSpPr>
        <p:spPr>
          <a:xfrm>
            <a:off x="9346525" y="5243274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0.07M</a:t>
            </a:r>
          </a:p>
        </p:txBody>
      </p:sp>
      <p:sp>
        <p:nvSpPr>
          <p:cNvPr id="41" name="Shape 38"/>
          <p:cNvSpPr/>
          <p:nvPr/>
        </p:nvSpPr>
        <p:spPr>
          <a:xfrm>
            <a:off x="3116699" y="5489138"/>
            <a:ext cx="7197328" cy="3183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2" name="Text 39"/>
          <p:cNvSpPr/>
          <p:nvPr/>
        </p:nvSpPr>
        <p:spPr>
          <a:xfrm>
            <a:off x="3225284" y="5561647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Mario Kart Wii</a:t>
            </a:r>
          </a:p>
        </p:txBody>
      </p:sp>
      <p:sp>
        <p:nvSpPr>
          <p:cNvPr id="43" name="Text 40"/>
          <p:cNvSpPr/>
          <p:nvPr/>
        </p:nvSpPr>
        <p:spPr>
          <a:xfrm>
            <a:off x="502836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Wii</a:t>
            </a:r>
          </a:p>
        </p:txBody>
      </p:sp>
      <p:sp>
        <p:nvSpPr>
          <p:cNvPr id="44" name="Text 41"/>
          <p:cNvSpPr/>
          <p:nvPr/>
        </p:nvSpPr>
        <p:spPr>
          <a:xfrm>
            <a:off x="610790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Racing</a:t>
            </a:r>
          </a:p>
        </p:txBody>
      </p:sp>
      <p:sp>
        <p:nvSpPr>
          <p:cNvPr id="45" name="Text 42"/>
          <p:cNvSpPr/>
          <p:nvPr/>
        </p:nvSpPr>
        <p:spPr>
          <a:xfrm>
            <a:off x="718744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35.82M</a:t>
            </a:r>
          </a:p>
        </p:txBody>
      </p:sp>
      <p:sp>
        <p:nvSpPr>
          <p:cNvPr id="46" name="Text 43"/>
          <p:cNvSpPr/>
          <p:nvPr/>
        </p:nvSpPr>
        <p:spPr>
          <a:xfrm>
            <a:off x="8266986" y="5561647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35.95M</a:t>
            </a:r>
          </a:p>
        </p:txBody>
      </p:sp>
      <p:sp>
        <p:nvSpPr>
          <p:cNvPr id="47" name="Text 44"/>
          <p:cNvSpPr/>
          <p:nvPr/>
        </p:nvSpPr>
        <p:spPr>
          <a:xfrm>
            <a:off x="9346525" y="5561647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0.13M</a:t>
            </a:r>
          </a:p>
        </p:txBody>
      </p:sp>
      <p:sp>
        <p:nvSpPr>
          <p:cNvPr id="48" name="Shape 45"/>
          <p:cNvSpPr/>
          <p:nvPr/>
        </p:nvSpPr>
        <p:spPr>
          <a:xfrm>
            <a:off x="3116699" y="5807511"/>
            <a:ext cx="7197328" cy="3183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25284" y="5880020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Wii Sports Resort</a:t>
            </a:r>
          </a:p>
        </p:txBody>
      </p:sp>
      <p:sp>
        <p:nvSpPr>
          <p:cNvPr id="50" name="Text 47"/>
          <p:cNvSpPr/>
          <p:nvPr/>
        </p:nvSpPr>
        <p:spPr>
          <a:xfrm>
            <a:off x="502836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Wii</a:t>
            </a:r>
          </a:p>
        </p:txBody>
      </p:sp>
      <p:sp>
        <p:nvSpPr>
          <p:cNvPr id="51" name="Text 48"/>
          <p:cNvSpPr/>
          <p:nvPr/>
        </p:nvSpPr>
        <p:spPr>
          <a:xfrm>
            <a:off x="610790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Sports</a:t>
            </a:r>
          </a:p>
        </p:txBody>
      </p:sp>
      <p:sp>
        <p:nvSpPr>
          <p:cNvPr id="52" name="Text 49"/>
          <p:cNvSpPr/>
          <p:nvPr/>
        </p:nvSpPr>
        <p:spPr>
          <a:xfrm>
            <a:off x="718744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33.00M</a:t>
            </a:r>
          </a:p>
        </p:txBody>
      </p:sp>
      <p:sp>
        <p:nvSpPr>
          <p:cNvPr id="53" name="Text 50"/>
          <p:cNvSpPr/>
          <p:nvPr/>
        </p:nvSpPr>
        <p:spPr>
          <a:xfrm>
            <a:off x="8266986" y="5880020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32.92M</a:t>
            </a:r>
          </a:p>
        </p:txBody>
      </p:sp>
      <p:sp>
        <p:nvSpPr>
          <p:cNvPr id="54" name="Text 51"/>
          <p:cNvSpPr/>
          <p:nvPr/>
        </p:nvSpPr>
        <p:spPr>
          <a:xfrm>
            <a:off x="9346525" y="5880020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0.08M</a:t>
            </a:r>
          </a:p>
        </p:txBody>
      </p:sp>
      <p:sp>
        <p:nvSpPr>
          <p:cNvPr id="55" name="Shape 52"/>
          <p:cNvSpPr/>
          <p:nvPr/>
        </p:nvSpPr>
        <p:spPr>
          <a:xfrm>
            <a:off x="3116699" y="6125884"/>
            <a:ext cx="7197328" cy="3183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6" name="Text 53"/>
          <p:cNvSpPr/>
          <p:nvPr/>
        </p:nvSpPr>
        <p:spPr>
          <a:xfrm>
            <a:off x="3225284" y="6198393"/>
            <a:ext cx="1579007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Pokemon Red</a:t>
            </a:r>
          </a:p>
        </p:txBody>
      </p:sp>
      <p:sp>
        <p:nvSpPr>
          <p:cNvPr id="57" name="Text 54"/>
          <p:cNvSpPr/>
          <p:nvPr/>
        </p:nvSpPr>
        <p:spPr>
          <a:xfrm>
            <a:off x="502836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GB</a:t>
            </a:r>
          </a:p>
        </p:txBody>
      </p:sp>
      <p:sp>
        <p:nvSpPr>
          <p:cNvPr id="58" name="Text 55"/>
          <p:cNvSpPr/>
          <p:nvPr/>
        </p:nvSpPr>
        <p:spPr>
          <a:xfrm>
            <a:off x="610790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Role-Play</a:t>
            </a:r>
          </a:p>
        </p:txBody>
      </p:sp>
      <p:sp>
        <p:nvSpPr>
          <p:cNvPr id="59" name="Text 56"/>
          <p:cNvSpPr/>
          <p:nvPr/>
        </p:nvSpPr>
        <p:spPr>
          <a:xfrm>
            <a:off x="718744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31.37M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266986" y="6198393"/>
            <a:ext cx="8554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31.29M</a:t>
            </a:r>
          </a:p>
        </p:txBody>
      </p:sp>
      <p:sp>
        <p:nvSpPr>
          <p:cNvPr id="61" name="Text 58"/>
          <p:cNvSpPr/>
          <p:nvPr/>
        </p:nvSpPr>
        <p:spPr>
          <a:xfrm>
            <a:off x="9346525" y="6198393"/>
            <a:ext cx="85927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0.08M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42A0034-AE7B-F5B9-A782-635363B9E6EB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94CDFE-9772-2F18-EEF7-CD95DAE4A0C9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2" name="Text 59"/>
          <p:cNvSpPr/>
          <p:nvPr/>
        </p:nvSpPr>
        <p:spPr>
          <a:xfrm>
            <a:off x="1132003" y="1141464"/>
            <a:ext cx="2053947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Key Insights Discovered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969722" y="1901484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1132004" y="1843977"/>
            <a:ext cx="2576274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Regional Sales Drive Global Success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1132004" y="2130323"/>
            <a:ext cx="557637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NA_Sales and EU_Sales are the strongest predictors, showing high correlation with global performance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969722" y="2911882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4"/>
          <p:cNvSpPr/>
          <p:nvPr/>
        </p:nvSpPr>
        <p:spPr>
          <a:xfrm>
            <a:off x="1132004" y="2954930"/>
            <a:ext cx="1763078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Platform &amp; Genre Matter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1132003" y="3140721"/>
            <a:ext cx="544544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Certain platforms (Wii, PS2) and genres (Sports, Shooter) significantly influence sales outcomes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969722" y="4037269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1132004" y="3979762"/>
            <a:ext cx="2352318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Achieves Strong Accuracy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1132004" y="4175676"/>
            <a:ext cx="5913032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R²=99.99% accuracy demonstrates reliable prediction capability for business decisions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969722" y="4997427"/>
            <a:ext cx="54054" cy="54054"/>
          </a:xfrm>
          <a:prstGeom prst="roundRect">
            <a:avLst>
              <a:gd name="adj" fmla="val 845821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0"/>
          <p:cNvSpPr/>
          <p:nvPr/>
        </p:nvSpPr>
        <p:spPr>
          <a:xfrm>
            <a:off x="1132004" y="5006531"/>
            <a:ext cx="2447330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3B3535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Data-Driven Decision Enablement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1132003" y="5226715"/>
            <a:ext cx="577795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Publishers can now forecast sales, optimize budgets, and reduce financial risks using predictive insights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7922019" y="874060"/>
            <a:ext cx="3840490" cy="2078950"/>
          </a:xfrm>
          <a:prstGeom prst="roundRect">
            <a:avLst>
              <a:gd name="adj" fmla="val 2189"/>
            </a:avLst>
          </a:prstGeom>
          <a:solidFill>
            <a:srgbClr val="C0CA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247" y="1027294"/>
            <a:ext cx="213717" cy="170974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8352192" y="1009315"/>
            <a:ext cx="2984290" cy="42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 Black" panose="020B0A04020102020204" pitchFamily="34" charset="0"/>
                <a:ea typeface="Alexandria Semi Bold" pitchFamily="34" charset="-122"/>
                <a:cs typeface="Alexandria Semi Bold" pitchFamily="34" charset="-120"/>
              </a:rPr>
              <a:t>Model Performance Summary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78" name="Text 74"/>
          <p:cNvSpPr/>
          <p:nvPr/>
        </p:nvSpPr>
        <p:spPr>
          <a:xfrm>
            <a:off x="8352192" y="1545216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R² Score: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0.99999333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75"/>
          <p:cNvSpPr/>
          <p:nvPr/>
        </p:nvSpPr>
        <p:spPr>
          <a:xfrm>
            <a:off x="8352192" y="1815964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MAE: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0.00311573852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76"/>
          <p:cNvSpPr/>
          <p:nvPr/>
        </p:nvSpPr>
        <p:spPr>
          <a:xfrm>
            <a:off x="8352192" y="2086712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RMSE: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3B3535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0.0053394795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7"/>
          <p:cNvSpPr/>
          <p:nvPr/>
        </p:nvSpPr>
        <p:spPr>
          <a:xfrm>
            <a:off x="8352192" y="2357460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Test Games: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3,320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78"/>
          <p:cNvSpPr/>
          <p:nvPr/>
        </p:nvSpPr>
        <p:spPr>
          <a:xfrm>
            <a:off x="8352192" y="2628208"/>
            <a:ext cx="218801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Classification: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ra Light" pitchFamily="34" charset="-122"/>
                <a:cs typeface="Arial" panose="020B0604020202020204" pitchFamily="34" charset="0"/>
              </a:rPr>
              <a:t> Excellent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563E403-D76E-B2AC-9DD9-26B019E2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004" y="3048358"/>
            <a:ext cx="4827951" cy="482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39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DBD7BB-756A-9E90-7172-A53F3CE1C637}"/>
              </a:ext>
            </a:extLst>
          </p:cNvPr>
          <p:cNvSpPr txBox="1"/>
          <p:nvPr/>
        </p:nvSpPr>
        <p:spPr>
          <a:xfrm>
            <a:off x="12697691" y="7606145"/>
            <a:ext cx="1859973" cy="5610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FCEF1-F434-0557-760A-84BB9FBC6F7C}"/>
              </a:ext>
            </a:extLst>
          </p:cNvPr>
          <p:cNvSpPr/>
          <p:nvPr/>
        </p:nvSpPr>
        <p:spPr>
          <a:xfrm>
            <a:off x="5653240" y="3653135"/>
            <a:ext cx="3323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80603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1391</Words>
  <Application>Microsoft Office PowerPoint</Application>
  <PresentationFormat>Custom</PresentationFormat>
  <Paragraphs>282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Alexandria Semi Bold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Sagar Datkhile</dc:creator>
  <cp:lastModifiedBy>Sagar Datkhile</cp:lastModifiedBy>
  <cp:revision>11</cp:revision>
  <dcterms:created xsi:type="dcterms:W3CDTF">2026-01-23T13:14:33Z</dcterms:created>
  <dcterms:modified xsi:type="dcterms:W3CDTF">2026-01-25T06:09:28Z</dcterms:modified>
</cp:coreProperties>
</file>